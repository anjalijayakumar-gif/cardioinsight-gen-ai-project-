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6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91500" y="-1524000"/>
            <a:ext cx="5334000" cy="5334000"/>
          </a:xfrm>
          <a:prstGeom prst="ellipse">
            <a:avLst/>
          </a:prstGeom>
          <a:solidFill>
            <a:srgbClr val="18E3C8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905000" y="4191000"/>
            <a:ext cx="4953000" cy="4953000"/>
          </a:xfrm>
          <a:prstGeom prst="ellipse">
            <a:avLst/>
          </a:prstGeom>
          <a:solidFill>
            <a:srgbClr val="3B82FF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667500" y="571500"/>
            <a:ext cx="4953000" cy="4953000"/>
          </a:xfrm>
          <a:prstGeom prst="heart">
            <a:avLst/>
          </a:prstGeom>
          <a:solidFill>
            <a:srgbClr val="3B82FF">
              <a:alpha val="14000"/>
            </a:srgbClr>
          </a:solidFill>
          <a:ln w="25400">
            <a:solidFill>
              <a:srgbClr val="18E3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7964714" y="1460500"/>
            <a:ext cx="1179286" cy="254000"/>
          </a:xfrm>
          <a:prstGeom prst="line">
            <a:avLst/>
          </a:prstGeom>
          <a:noFill/>
          <a:ln w="9525">
            <a:solidFill>
              <a:srgbClr val="18E3C8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H="1">
            <a:off x="7375071" y="1714500"/>
            <a:ext cx="589643" cy="762000"/>
          </a:xfrm>
          <a:prstGeom prst="line">
            <a:avLst/>
          </a:prstGeom>
          <a:noFill/>
          <a:ln w="9525">
            <a:solidFill>
              <a:srgbClr val="18E3C8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64714" y="1714500"/>
            <a:ext cx="589643" cy="889000"/>
          </a:xfrm>
          <a:prstGeom prst="line">
            <a:avLst/>
          </a:prstGeom>
          <a:noFill/>
          <a:ln w="9525">
            <a:solidFill>
              <a:srgbClr val="18E3C8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64714" y="1714500"/>
            <a:ext cx="1179286" cy="508000"/>
          </a:xfrm>
          <a:prstGeom prst="line">
            <a:avLst/>
          </a:prstGeom>
          <a:noFill/>
          <a:ln w="9525">
            <a:solidFill>
              <a:srgbClr val="18E3C8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0" y="1460500"/>
            <a:ext cx="1179286" cy="254000"/>
          </a:xfrm>
          <a:prstGeom prst="line">
            <a:avLst/>
          </a:prstGeom>
          <a:noFill/>
          <a:ln w="9525">
            <a:solidFill>
              <a:srgbClr val="18E3C8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H="1">
            <a:off x="8554357" y="1460500"/>
            <a:ext cx="589643" cy="1143000"/>
          </a:xfrm>
          <a:prstGeom prst="line">
            <a:avLst/>
          </a:prstGeom>
          <a:noFill/>
          <a:ln w="9525">
            <a:solidFill>
              <a:srgbClr val="18E3C8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0" y="1460500"/>
            <a:ext cx="589643" cy="1143000"/>
          </a:xfrm>
          <a:prstGeom prst="line">
            <a:avLst/>
          </a:prstGeom>
          <a:noFill/>
          <a:ln w="9525">
            <a:solidFill>
              <a:srgbClr val="18E3C8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0" y="1460500"/>
            <a:ext cx="0" cy="762000"/>
          </a:xfrm>
          <a:prstGeom prst="line">
            <a:avLst/>
          </a:prstGeom>
          <a:noFill/>
          <a:ln w="9525">
            <a:solidFill>
              <a:srgbClr val="18E3C8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H="1">
            <a:off x="9733643" y="1714500"/>
            <a:ext cx="589643" cy="889000"/>
          </a:xfrm>
          <a:prstGeom prst="line">
            <a:avLst/>
          </a:prstGeom>
          <a:noFill/>
          <a:ln w="9525">
            <a:solidFill>
              <a:srgbClr val="18E3C8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323286" y="1714500"/>
            <a:ext cx="589643" cy="762000"/>
          </a:xfrm>
          <a:prstGeom prst="line">
            <a:avLst/>
          </a:prstGeom>
          <a:noFill/>
          <a:ln w="9525">
            <a:solidFill>
              <a:srgbClr val="18E3C8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H="1">
            <a:off x="9144000" y="1714500"/>
            <a:ext cx="1179286" cy="508000"/>
          </a:xfrm>
          <a:prstGeom prst="line">
            <a:avLst/>
          </a:prstGeom>
          <a:noFill/>
          <a:ln w="9525">
            <a:solidFill>
              <a:srgbClr val="18E3C8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75071" y="2476500"/>
            <a:ext cx="1179286" cy="127000"/>
          </a:xfrm>
          <a:prstGeom prst="line">
            <a:avLst/>
          </a:prstGeom>
          <a:noFill/>
          <a:ln w="9525">
            <a:solidFill>
              <a:srgbClr val="18E3C8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75071" y="2476500"/>
            <a:ext cx="589643" cy="952500"/>
          </a:xfrm>
          <a:prstGeom prst="line">
            <a:avLst/>
          </a:prstGeom>
          <a:noFill/>
          <a:ln w="9525">
            <a:solidFill>
              <a:srgbClr val="18E3C8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554357" y="2603500"/>
            <a:ext cx="1179286" cy="0"/>
          </a:xfrm>
          <a:prstGeom prst="line">
            <a:avLst/>
          </a:prstGeom>
          <a:noFill/>
          <a:ln w="9525">
            <a:solidFill>
              <a:srgbClr val="18E3C8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H="1">
            <a:off x="7964714" y="2603500"/>
            <a:ext cx="589643" cy="825500"/>
          </a:xfrm>
          <a:prstGeom prst="line">
            <a:avLst/>
          </a:prstGeom>
          <a:noFill/>
          <a:ln w="9525">
            <a:solidFill>
              <a:srgbClr val="18E3C8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54357" y="2603500"/>
            <a:ext cx="589643" cy="825500"/>
          </a:xfrm>
          <a:prstGeom prst="line">
            <a:avLst/>
          </a:prstGeom>
          <a:noFill/>
          <a:ln w="9525">
            <a:solidFill>
              <a:srgbClr val="18E3C8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V="1">
            <a:off x="8554357" y="2222500"/>
            <a:ext cx="589643" cy="381000"/>
          </a:xfrm>
          <a:prstGeom prst="line">
            <a:avLst/>
          </a:prstGeom>
          <a:noFill/>
          <a:ln w="9525">
            <a:solidFill>
              <a:srgbClr val="18E3C8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V="1">
            <a:off x="9733643" y="2476500"/>
            <a:ext cx="1179286" cy="127000"/>
          </a:xfrm>
          <a:prstGeom prst="line">
            <a:avLst/>
          </a:prstGeom>
          <a:noFill/>
          <a:ln w="9525">
            <a:solidFill>
              <a:srgbClr val="18E3C8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H="1">
            <a:off x="9144000" y="2603500"/>
            <a:ext cx="589643" cy="825500"/>
          </a:xfrm>
          <a:prstGeom prst="line">
            <a:avLst/>
          </a:prstGeom>
          <a:noFill/>
          <a:ln w="9525">
            <a:solidFill>
              <a:srgbClr val="18E3C8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733643" y="2603500"/>
            <a:ext cx="589643" cy="825500"/>
          </a:xfrm>
          <a:prstGeom prst="line">
            <a:avLst/>
          </a:prstGeom>
          <a:noFill/>
          <a:ln w="9525">
            <a:solidFill>
              <a:srgbClr val="18E3C8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H="1" flipV="1">
            <a:off x="9144000" y="2222500"/>
            <a:ext cx="589643" cy="381000"/>
          </a:xfrm>
          <a:prstGeom prst="line">
            <a:avLst/>
          </a:prstGeom>
          <a:noFill/>
          <a:ln w="9525">
            <a:solidFill>
              <a:srgbClr val="18E3C8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H="1">
            <a:off x="10323286" y="2476500"/>
            <a:ext cx="589643" cy="952500"/>
          </a:xfrm>
          <a:prstGeom prst="line">
            <a:avLst/>
          </a:prstGeom>
          <a:noFill/>
          <a:ln w="9525">
            <a:solidFill>
              <a:srgbClr val="18E3C8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964714" y="3429000"/>
            <a:ext cx="1179286" cy="0"/>
          </a:xfrm>
          <a:prstGeom prst="line">
            <a:avLst/>
          </a:prstGeom>
          <a:noFill/>
          <a:ln w="9525">
            <a:solidFill>
              <a:srgbClr val="18E3C8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964714" y="3429000"/>
            <a:ext cx="589643" cy="825500"/>
          </a:xfrm>
          <a:prstGeom prst="line">
            <a:avLst/>
          </a:prstGeom>
          <a:noFill/>
          <a:ln w="9525">
            <a:solidFill>
              <a:srgbClr val="18E3C8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144000" y="3429000"/>
            <a:ext cx="1179286" cy="0"/>
          </a:xfrm>
          <a:prstGeom prst="line">
            <a:avLst/>
          </a:prstGeom>
          <a:noFill/>
          <a:ln w="9525">
            <a:solidFill>
              <a:srgbClr val="18E3C8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flipH="1">
            <a:off x="8554357" y="3429000"/>
            <a:ext cx="589643" cy="825500"/>
          </a:xfrm>
          <a:prstGeom prst="line">
            <a:avLst/>
          </a:prstGeom>
          <a:noFill/>
          <a:ln w="9525">
            <a:solidFill>
              <a:srgbClr val="18E3C8">
                <a:alpha val="4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144000" y="3429000"/>
            <a:ext cx="589643" cy="825500"/>
          </a:xfrm>
          <a:prstGeom prst="line">
            <a:avLst/>
          </a:prstGeom>
          <a:noFill/>
          <a:ln w="9525">
            <a:solidFill>
              <a:srgbClr val="18E3C8">
                <a:alpha val="4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flipV="1">
            <a:off x="9144000" y="2222500"/>
            <a:ext cx="0" cy="1206500"/>
          </a:xfrm>
          <a:prstGeom prst="line">
            <a:avLst/>
          </a:prstGeom>
          <a:noFill/>
          <a:ln w="9525">
            <a:solidFill>
              <a:srgbClr val="18E3C8">
                <a:alpha val="4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flipH="1">
            <a:off x="9733643" y="3429000"/>
            <a:ext cx="589643" cy="825500"/>
          </a:xfrm>
          <a:prstGeom prst="line">
            <a:avLst/>
          </a:prstGeom>
          <a:noFill/>
          <a:ln w="9525">
            <a:solidFill>
              <a:srgbClr val="18E3C8">
                <a:alpha val="4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554357" y="4254500"/>
            <a:ext cx="1179286" cy="0"/>
          </a:xfrm>
          <a:prstGeom prst="line">
            <a:avLst/>
          </a:prstGeom>
          <a:noFill/>
          <a:ln w="9525">
            <a:solidFill>
              <a:srgbClr val="18E3C8">
                <a:alpha val="4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554357" y="4254500"/>
            <a:ext cx="589643" cy="762000"/>
          </a:xfrm>
          <a:prstGeom prst="line">
            <a:avLst/>
          </a:prstGeom>
          <a:noFill/>
          <a:ln w="9525">
            <a:solidFill>
              <a:srgbClr val="18E3C8">
                <a:alpha val="4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flipH="1">
            <a:off x="9144000" y="4254500"/>
            <a:ext cx="589643" cy="762000"/>
          </a:xfrm>
          <a:prstGeom prst="line">
            <a:avLst/>
          </a:prstGeom>
          <a:noFill/>
          <a:ln w="9525">
            <a:solidFill>
              <a:srgbClr val="18E3C8">
                <a:alpha val="4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917089" y="1666875"/>
            <a:ext cx="95250" cy="95250"/>
          </a:xfrm>
          <a:prstGeom prst="ellipse">
            <a:avLst/>
          </a:prstGeom>
          <a:solidFill>
            <a:srgbClr val="7FF3E4"/>
          </a:solidFill>
          <a:ln/>
        </p:spPr>
      </p:sp>
      <p:sp>
        <p:nvSpPr>
          <p:cNvPr id="38" name="Shape 36"/>
          <p:cNvSpPr/>
          <p:nvPr/>
        </p:nvSpPr>
        <p:spPr>
          <a:xfrm>
            <a:off x="9096375" y="1412875"/>
            <a:ext cx="95250" cy="95250"/>
          </a:xfrm>
          <a:prstGeom prst="ellipse">
            <a:avLst/>
          </a:prstGeom>
          <a:solidFill>
            <a:srgbClr val="7FF3E4"/>
          </a:solidFill>
          <a:ln/>
        </p:spPr>
      </p:sp>
      <p:sp>
        <p:nvSpPr>
          <p:cNvPr id="39" name="Shape 37"/>
          <p:cNvSpPr/>
          <p:nvPr/>
        </p:nvSpPr>
        <p:spPr>
          <a:xfrm>
            <a:off x="10275661" y="1666875"/>
            <a:ext cx="95250" cy="95250"/>
          </a:xfrm>
          <a:prstGeom prst="ellipse">
            <a:avLst/>
          </a:prstGeom>
          <a:solidFill>
            <a:srgbClr val="7FF3E4"/>
          </a:solidFill>
          <a:ln/>
        </p:spPr>
      </p:sp>
      <p:sp>
        <p:nvSpPr>
          <p:cNvPr id="40" name="Shape 38"/>
          <p:cNvSpPr/>
          <p:nvPr/>
        </p:nvSpPr>
        <p:spPr>
          <a:xfrm>
            <a:off x="7327446" y="2428875"/>
            <a:ext cx="95250" cy="95250"/>
          </a:xfrm>
          <a:prstGeom prst="ellipse">
            <a:avLst/>
          </a:prstGeom>
          <a:solidFill>
            <a:srgbClr val="7FF3E4"/>
          </a:solidFill>
          <a:ln/>
        </p:spPr>
      </p:sp>
      <p:sp>
        <p:nvSpPr>
          <p:cNvPr id="41" name="Shape 39"/>
          <p:cNvSpPr/>
          <p:nvPr/>
        </p:nvSpPr>
        <p:spPr>
          <a:xfrm>
            <a:off x="8506732" y="2555875"/>
            <a:ext cx="95250" cy="95250"/>
          </a:xfrm>
          <a:prstGeom prst="ellipse">
            <a:avLst/>
          </a:prstGeom>
          <a:solidFill>
            <a:srgbClr val="7FF3E4"/>
          </a:solidFill>
          <a:ln/>
        </p:spPr>
      </p:sp>
      <p:sp>
        <p:nvSpPr>
          <p:cNvPr id="42" name="Shape 40"/>
          <p:cNvSpPr/>
          <p:nvPr/>
        </p:nvSpPr>
        <p:spPr>
          <a:xfrm>
            <a:off x="9686018" y="2555875"/>
            <a:ext cx="95250" cy="95250"/>
          </a:xfrm>
          <a:prstGeom prst="ellipse">
            <a:avLst/>
          </a:prstGeom>
          <a:solidFill>
            <a:srgbClr val="7FF3E4"/>
          </a:solidFill>
          <a:ln/>
        </p:spPr>
      </p:sp>
      <p:sp>
        <p:nvSpPr>
          <p:cNvPr id="43" name="Shape 41"/>
          <p:cNvSpPr/>
          <p:nvPr/>
        </p:nvSpPr>
        <p:spPr>
          <a:xfrm>
            <a:off x="10865304" y="2428875"/>
            <a:ext cx="95250" cy="95250"/>
          </a:xfrm>
          <a:prstGeom prst="ellipse">
            <a:avLst/>
          </a:prstGeom>
          <a:solidFill>
            <a:srgbClr val="7FF3E4"/>
          </a:solidFill>
          <a:ln/>
        </p:spPr>
      </p:sp>
      <p:sp>
        <p:nvSpPr>
          <p:cNvPr id="44" name="Shape 42"/>
          <p:cNvSpPr/>
          <p:nvPr/>
        </p:nvSpPr>
        <p:spPr>
          <a:xfrm>
            <a:off x="7917089" y="3381375"/>
            <a:ext cx="95250" cy="95250"/>
          </a:xfrm>
          <a:prstGeom prst="ellipse">
            <a:avLst/>
          </a:prstGeom>
          <a:solidFill>
            <a:srgbClr val="7FF3E4"/>
          </a:solidFill>
          <a:ln/>
        </p:spPr>
      </p:sp>
      <p:sp>
        <p:nvSpPr>
          <p:cNvPr id="45" name="Shape 43"/>
          <p:cNvSpPr/>
          <p:nvPr/>
        </p:nvSpPr>
        <p:spPr>
          <a:xfrm>
            <a:off x="9096375" y="3381375"/>
            <a:ext cx="95250" cy="95250"/>
          </a:xfrm>
          <a:prstGeom prst="ellipse">
            <a:avLst/>
          </a:prstGeom>
          <a:solidFill>
            <a:srgbClr val="7FF3E4"/>
          </a:solidFill>
          <a:ln/>
        </p:spPr>
      </p:sp>
      <p:sp>
        <p:nvSpPr>
          <p:cNvPr id="46" name="Shape 44"/>
          <p:cNvSpPr/>
          <p:nvPr/>
        </p:nvSpPr>
        <p:spPr>
          <a:xfrm>
            <a:off x="10275661" y="3381375"/>
            <a:ext cx="95250" cy="95250"/>
          </a:xfrm>
          <a:prstGeom prst="ellipse">
            <a:avLst/>
          </a:prstGeom>
          <a:solidFill>
            <a:srgbClr val="7FF3E4"/>
          </a:solidFill>
          <a:ln/>
        </p:spPr>
      </p:sp>
      <p:sp>
        <p:nvSpPr>
          <p:cNvPr id="47" name="Shape 45"/>
          <p:cNvSpPr/>
          <p:nvPr/>
        </p:nvSpPr>
        <p:spPr>
          <a:xfrm>
            <a:off x="8506732" y="4206875"/>
            <a:ext cx="95250" cy="95250"/>
          </a:xfrm>
          <a:prstGeom prst="ellipse">
            <a:avLst/>
          </a:prstGeom>
          <a:solidFill>
            <a:srgbClr val="7FF3E4"/>
          </a:solidFill>
          <a:ln/>
        </p:spPr>
      </p:sp>
      <p:sp>
        <p:nvSpPr>
          <p:cNvPr id="48" name="Shape 46"/>
          <p:cNvSpPr/>
          <p:nvPr/>
        </p:nvSpPr>
        <p:spPr>
          <a:xfrm>
            <a:off x="9686018" y="4206875"/>
            <a:ext cx="95250" cy="95250"/>
          </a:xfrm>
          <a:prstGeom prst="ellipse">
            <a:avLst/>
          </a:prstGeom>
          <a:solidFill>
            <a:srgbClr val="7FF3E4"/>
          </a:solidFill>
          <a:ln/>
        </p:spPr>
      </p:sp>
      <p:sp>
        <p:nvSpPr>
          <p:cNvPr id="49" name="Shape 47"/>
          <p:cNvSpPr/>
          <p:nvPr/>
        </p:nvSpPr>
        <p:spPr>
          <a:xfrm>
            <a:off x="9096375" y="4968875"/>
            <a:ext cx="95250" cy="95250"/>
          </a:xfrm>
          <a:prstGeom prst="ellipse">
            <a:avLst/>
          </a:prstGeom>
          <a:solidFill>
            <a:srgbClr val="7FF3E4"/>
          </a:solidFill>
          <a:ln/>
        </p:spPr>
      </p:sp>
      <p:sp>
        <p:nvSpPr>
          <p:cNvPr id="50" name="Shape 48"/>
          <p:cNvSpPr/>
          <p:nvPr/>
        </p:nvSpPr>
        <p:spPr>
          <a:xfrm>
            <a:off x="9096375" y="2174875"/>
            <a:ext cx="95250" cy="95250"/>
          </a:xfrm>
          <a:prstGeom prst="ellipse">
            <a:avLst/>
          </a:prstGeom>
          <a:solidFill>
            <a:srgbClr val="7FF3E4"/>
          </a:solidFill>
          <a:ln/>
        </p:spPr>
      </p:sp>
      <p:sp>
        <p:nvSpPr>
          <p:cNvPr id="51" name="Shape 49"/>
          <p:cNvSpPr/>
          <p:nvPr/>
        </p:nvSpPr>
        <p:spPr>
          <a:xfrm>
            <a:off x="6785429" y="3238500"/>
            <a:ext cx="1179286" cy="0"/>
          </a:xfrm>
          <a:prstGeom prst="line">
            <a:avLst/>
          </a:prstGeom>
          <a:noFill/>
          <a:ln w="28575">
            <a:solidFill>
              <a:srgbClr val="EAF4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964714" y="3238500"/>
            <a:ext cx="353786" cy="0"/>
          </a:xfrm>
          <a:prstGeom prst="line">
            <a:avLst/>
          </a:prstGeom>
          <a:noFill/>
          <a:ln w="28575">
            <a:solidFill>
              <a:srgbClr val="EAF4F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 flipV="1">
            <a:off x="8318500" y="2857500"/>
            <a:ext cx="235857" cy="381000"/>
          </a:xfrm>
          <a:prstGeom prst="line">
            <a:avLst/>
          </a:prstGeom>
          <a:noFill/>
          <a:ln w="28575">
            <a:solidFill>
              <a:srgbClr val="EAF4F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554357" y="2857500"/>
            <a:ext cx="235857" cy="762000"/>
          </a:xfrm>
          <a:prstGeom prst="line">
            <a:avLst/>
          </a:prstGeom>
          <a:noFill/>
          <a:ln w="28575">
            <a:solidFill>
              <a:srgbClr val="EAF4F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 flipV="1">
            <a:off x="8790214" y="1841500"/>
            <a:ext cx="294821" cy="1778000"/>
          </a:xfrm>
          <a:prstGeom prst="line">
            <a:avLst/>
          </a:prstGeom>
          <a:noFill/>
          <a:ln w="28575">
            <a:solidFill>
              <a:srgbClr val="EAF4F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085036" y="1841500"/>
            <a:ext cx="294821" cy="2540000"/>
          </a:xfrm>
          <a:prstGeom prst="line">
            <a:avLst/>
          </a:prstGeom>
          <a:noFill/>
          <a:ln w="28575">
            <a:solidFill>
              <a:srgbClr val="EAF4F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 flipV="1">
            <a:off x="9379857" y="3238500"/>
            <a:ext cx="235857" cy="1143000"/>
          </a:xfrm>
          <a:prstGeom prst="line">
            <a:avLst/>
          </a:prstGeom>
          <a:noFill/>
          <a:ln w="28575">
            <a:solidFill>
              <a:srgbClr val="EAF4F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615714" y="3238500"/>
            <a:ext cx="1886857" cy="0"/>
          </a:xfrm>
          <a:prstGeom prst="line">
            <a:avLst/>
          </a:prstGeom>
          <a:noFill/>
          <a:ln w="28575">
            <a:solidFill>
              <a:srgbClr val="EAF4F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182100" y="5048250"/>
            <a:ext cx="285750" cy="381000"/>
          </a:xfrm>
          <a:prstGeom prst="rect">
            <a:avLst/>
          </a:prstGeom>
          <a:solidFill>
            <a:srgbClr val="3B82FF">
              <a:alpha val="15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9610725" y="4857750"/>
            <a:ext cx="285750" cy="571500"/>
          </a:xfrm>
          <a:prstGeom prst="rect">
            <a:avLst/>
          </a:prstGeom>
          <a:solidFill>
            <a:srgbClr val="3B82FF">
              <a:alpha val="15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10039350" y="4953000"/>
            <a:ext cx="285750" cy="476250"/>
          </a:xfrm>
          <a:prstGeom prst="rect">
            <a:avLst/>
          </a:prstGeom>
          <a:solidFill>
            <a:srgbClr val="3B82FF">
              <a:alpha val="15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10467975" y="4667250"/>
            <a:ext cx="285750" cy="762000"/>
          </a:xfrm>
          <a:prstGeom prst="rect">
            <a:avLst/>
          </a:prstGeom>
          <a:solidFill>
            <a:srgbClr val="3B82FF">
              <a:alpha val="15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10896600" y="4762500"/>
            <a:ext cx="285750" cy="666750"/>
          </a:xfrm>
          <a:prstGeom prst="rect">
            <a:avLst/>
          </a:prstGeom>
          <a:solidFill>
            <a:srgbClr val="3B82FF">
              <a:alpha val="15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11325225" y="4457700"/>
            <a:ext cx="285750" cy="971550"/>
          </a:xfrm>
          <a:prstGeom prst="rect">
            <a:avLst/>
          </a:prstGeom>
          <a:solidFill>
            <a:srgbClr val="3B82FF">
              <a:alpha val="15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0" y="5810250"/>
            <a:ext cx="1047750" cy="0"/>
          </a:xfrm>
          <a:prstGeom prst="line">
            <a:avLst/>
          </a:prstGeom>
          <a:noFill/>
          <a:ln w="31750">
            <a:solidFill>
              <a:srgbClr val="18E3C8">
                <a:alpha val="45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 flipV="1">
            <a:off x="1047750" y="5676900"/>
            <a:ext cx="142875" cy="133350"/>
          </a:xfrm>
          <a:prstGeom prst="line">
            <a:avLst/>
          </a:prstGeom>
          <a:noFill/>
          <a:ln w="31750">
            <a:solidFill>
              <a:srgbClr val="18E3C8">
                <a:alpha val="45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190625" y="5676900"/>
            <a:ext cx="142875" cy="133350"/>
          </a:xfrm>
          <a:prstGeom prst="line">
            <a:avLst/>
          </a:prstGeom>
          <a:noFill/>
          <a:ln w="31750">
            <a:solidFill>
              <a:srgbClr val="18E3C8">
                <a:alpha val="45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333500" y="5810250"/>
            <a:ext cx="571500" cy="0"/>
          </a:xfrm>
          <a:prstGeom prst="line">
            <a:avLst/>
          </a:prstGeom>
          <a:noFill/>
          <a:ln w="31750">
            <a:solidFill>
              <a:srgbClr val="18E3C8">
                <a:alpha val="45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905000" y="5810250"/>
            <a:ext cx="114300" cy="133350"/>
          </a:xfrm>
          <a:prstGeom prst="line">
            <a:avLst/>
          </a:prstGeom>
          <a:noFill/>
          <a:ln w="31750">
            <a:solidFill>
              <a:srgbClr val="18E3C8">
                <a:alpha val="45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 flipV="1">
            <a:off x="2019300" y="5181600"/>
            <a:ext cx="171450" cy="762000"/>
          </a:xfrm>
          <a:prstGeom prst="line">
            <a:avLst/>
          </a:prstGeom>
          <a:noFill/>
          <a:ln w="31750">
            <a:solidFill>
              <a:srgbClr val="18E3C8">
                <a:alpha val="45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190750" y="5181600"/>
            <a:ext cx="171450" cy="952500"/>
          </a:xfrm>
          <a:prstGeom prst="line">
            <a:avLst/>
          </a:prstGeom>
          <a:noFill/>
          <a:ln w="31750">
            <a:solidFill>
              <a:srgbClr val="18E3C8">
                <a:alpha val="45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 flipV="1">
            <a:off x="2362200" y="5810250"/>
            <a:ext cx="114300" cy="323850"/>
          </a:xfrm>
          <a:prstGeom prst="line">
            <a:avLst/>
          </a:prstGeom>
          <a:noFill/>
          <a:ln w="31750">
            <a:solidFill>
              <a:srgbClr val="18E3C8">
                <a:alpha val="4500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476500" y="5810250"/>
            <a:ext cx="571500" cy="0"/>
          </a:xfrm>
          <a:prstGeom prst="line">
            <a:avLst/>
          </a:prstGeom>
          <a:noFill/>
          <a:ln w="31750">
            <a:solidFill>
              <a:srgbClr val="18E3C8">
                <a:alpha val="4500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3048000" y="5810250"/>
            <a:ext cx="1047750" cy="0"/>
          </a:xfrm>
          <a:prstGeom prst="line">
            <a:avLst/>
          </a:prstGeom>
          <a:noFill/>
          <a:ln w="31750">
            <a:solidFill>
              <a:srgbClr val="18E3C8">
                <a:alpha val="45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 flipV="1">
            <a:off x="4095750" y="5676900"/>
            <a:ext cx="142875" cy="133350"/>
          </a:xfrm>
          <a:prstGeom prst="line">
            <a:avLst/>
          </a:prstGeom>
          <a:noFill/>
          <a:ln w="31750">
            <a:solidFill>
              <a:srgbClr val="18E3C8">
                <a:alpha val="4500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4238625" y="5676900"/>
            <a:ext cx="142875" cy="133350"/>
          </a:xfrm>
          <a:prstGeom prst="line">
            <a:avLst/>
          </a:prstGeom>
          <a:noFill/>
          <a:ln w="31750">
            <a:solidFill>
              <a:srgbClr val="18E3C8">
                <a:alpha val="4500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4381500" y="5810250"/>
            <a:ext cx="571500" cy="0"/>
          </a:xfrm>
          <a:prstGeom prst="line">
            <a:avLst/>
          </a:prstGeom>
          <a:noFill/>
          <a:ln w="31750">
            <a:solidFill>
              <a:srgbClr val="18E3C8">
                <a:alpha val="4500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953000" y="5810250"/>
            <a:ext cx="114300" cy="133350"/>
          </a:xfrm>
          <a:prstGeom prst="line">
            <a:avLst/>
          </a:prstGeom>
          <a:noFill/>
          <a:ln w="31750">
            <a:solidFill>
              <a:srgbClr val="18E3C8">
                <a:alpha val="4500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 flipV="1">
            <a:off x="5067300" y="5181600"/>
            <a:ext cx="171450" cy="762000"/>
          </a:xfrm>
          <a:prstGeom prst="line">
            <a:avLst/>
          </a:prstGeom>
          <a:noFill/>
          <a:ln w="31750">
            <a:solidFill>
              <a:srgbClr val="18E3C8">
                <a:alpha val="4500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5238750" y="5181600"/>
            <a:ext cx="171450" cy="952500"/>
          </a:xfrm>
          <a:prstGeom prst="line">
            <a:avLst/>
          </a:prstGeom>
          <a:noFill/>
          <a:ln w="31750">
            <a:solidFill>
              <a:srgbClr val="18E3C8">
                <a:alpha val="4500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 flipV="1">
            <a:off x="5410200" y="5810250"/>
            <a:ext cx="114300" cy="323850"/>
          </a:xfrm>
          <a:prstGeom prst="line">
            <a:avLst/>
          </a:prstGeom>
          <a:noFill/>
          <a:ln w="31750">
            <a:solidFill>
              <a:srgbClr val="18E3C8">
                <a:alpha val="4500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5524500" y="5810250"/>
            <a:ext cx="571500" cy="0"/>
          </a:xfrm>
          <a:prstGeom prst="line">
            <a:avLst/>
          </a:prstGeom>
          <a:noFill/>
          <a:ln w="31750">
            <a:solidFill>
              <a:srgbClr val="18E3C8">
                <a:alpha val="4500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6096000" y="5810250"/>
            <a:ext cx="1047750" cy="0"/>
          </a:xfrm>
          <a:prstGeom prst="line">
            <a:avLst/>
          </a:prstGeom>
          <a:noFill/>
          <a:ln w="31750">
            <a:solidFill>
              <a:srgbClr val="18E3C8">
                <a:alpha val="4500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 flipV="1">
            <a:off x="7143750" y="5676900"/>
            <a:ext cx="142875" cy="133350"/>
          </a:xfrm>
          <a:prstGeom prst="line">
            <a:avLst/>
          </a:prstGeom>
          <a:noFill/>
          <a:ln w="31750">
            <a:solidFill>
              <a:srgbClr val="18E3C8">
                <a:alpha val="4500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7286625" y="5676900"/>
            <a:ext cx="142875" cy="133350"/>
          </a:xfrm>
          <a:prstGeom prst="line">
            <a:avLst/>
          </a:prstGeom>
          <a:noFill/>
          <a:ln w="31750">
            <a:solidFill>
              <a:srgbClr val="18E3C8">
                <a:alpha val="4500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7429500" y="5810250"/>
            <a:ext cx="571500" cy="0"/>
          </a:xfrm>
          <a:prstGeom prst="line">
            <a:avLst/>
          </a:prstGeom>
          <a:noFill/>
          <a:ln w="31750">
            <a:solidFill>
              <a:srgbClr val="18E3C8">
                <a:alpha val="4500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8001000" y="5810250"/>
            <a:ext cx="114300" cy="133350"/>
          </a:xfrm>
          <a:prstGeom prst="line">
            <a:avLst/>
          </a:prstGeom>
          <a:noFill/>
          <a:ln w="31750">
            <a:solidFill>
              <a:srgbClr val="18E3C8">
                <a:alpha val="4500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 flipV="1">
            <a:off x="8115300" y="5181600"/>
            <a:ext cx="171450" cy="762000"/>
          </a:xfrm>
          <a:prstGeom prst="line">
            <a:avLst/>
          </a:prstGeom>
          <a:noFill/>
          <a:ln w="31750">
            <a:solidFill>
              <a:srgbClr val="18E3C8">
                <a:alpha val="4500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8286750" y="5181600"/>
            <a:ext cx="171450" cy="952500"/>
          </a:xfrm>
          <a:prstGeom prst="line">
            <a:avLst/>
          </a:prstGeom>
          <a:noFill/>
          <a:ln w="31750">
            <a:solidFill>
              <a:srgbClr val="18E3C8">
                <a:alpha val="4500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 flipV="1">
            <a:off x="8458200" y="5810250"/>
            <a:ext cx="114300" cy="323850"/>
          </a:xfrm>
          <a:prstGeom prst="line">
            <a:avLst/>
          </a:prstGeom>
          <a:noFill/>
          <a:ln w="31750">
            <a:solidFill>
              <a:srgbClr val="18E3C8">
                <a:alpha val="4500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8572500" y="5810250"/>
            <a:ext cx="571500" cy="0"/>
          </a:xfrm>
          <a:prstGeom prst="line">
            <a:avLst/>
          </a:prstGeom>
          <a:noFill/>
          <a:ln w="31750">
            <a:solidFill>
              <a:srgbClr val="18E3C8">
                <a:alpha val="4500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9144000" y="5810250"/>
            <a:ext cx="1047750" cy="0"/>
          </a:xfrm>
          <a:prstGeom prst="line">
            <a:avLst/>
          </a:prstGeom>
          <a:noFill/>
          <a:ln w="31750">
            <a:solidFill>
              <a:srgbClr val="18E3C8">
                <a:alpha val="4500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 flipV="1">
            <a:off x="10191750" y="5676900"/>
            <a:ext cx="142875" cy="133350"/>
          </a:xfrm>
          <a:prstGeom prst="line">
            <a:avLst/>
          </a:prstGeom>
          <a:noFill/>
          <a:ln w="31750">
            <a:solidFill>
              <a:srgbClr val="18E3C8">
                <a:alpha val="4500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10334625" y="5676900"/>
            <a:ext cx="142875" cy="133350"/>
          </a:xfrm>
          <a:prstGeom prst="line">
            <a:avLst/>
          </a:prstGeom>
          <a:noFill/>
          <a:ln w="31750">
            <a:solidFill>
              <a:srgbClr val="18E3C8">
                <a:alpha val="4500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10477500" y="5810250"/>
            <a:ext cx="571500" cy="0"/>
          </a:xfrm>
          <a:prstGeom prst="line">
            <a:avLst/>
          </a:prstGeom>
          <a:noFill/>
          <a:ln w="31750">
            <a:solidFill>
              <a:srgbClr val="18E3C8">
                <a:alpha val="4500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11049000" y="5810250"/>
            <a:ext cx="114300" cy="133350"/>
          </a:xfrm>
          <a:prstGeom prst="line">
            <a:avLst/>
          </a:prstGeom>
          <a:noFill/>
          <a:ln w="31750">
            <a:solidFill>
              <a:srgbClr val="18E3C8">
                <a:alpha val="4500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 flipV="1">
            <a:off x="11163300" y="5181600"/>
            <a:ext cx="171450" cy="762000"/>
          </a:xfrm>
          <a:prstGeom prst="line">
            <a:avLst/>
          </a:prstGeom>
          <a:noFill/>
          <a:ln w="31750">
            <a:solidFill>
              <a:srgbClr val="18E3C8">
                <a:alpha val="4500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11334750" y="5181600"/>
            <a:ext cx="171450" cy="952500"/>
          </a:xfrm>
          <a:prstGeom prst="line">
            <a:avLst/>
          </a:prstGeom>
          <a:noFill/>
          <a:ln w="31750">
            <a:solidFill>
              <a:srgbClr val="18E3C8">
                <a:alpha val="4500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 flipV="1">
            <a:off x="11506200" y="5810250"/>
            <a:ext cx="114300" cy="323850"/>
          </a:xfrm>
          <a:prstGeom prst="line">
            <a:avLst/>
          </a:prstGeom>
          <a:noFill/>
          <a:ln w="31750">
            <a:solidFill>
              <a:srgbClr val="18E3C8">
                <a:alpha val="4500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11620500" y="5810250"/>
            <a:ext cx="571500" cy="0"/>
          </a:xfrm>
          <a:prstGeom prst="line">
            <a:avLst/>
          </a:prstGeom>
          <a:noFill/>
          <a:ln w="31750">
            <a:solidFill>
              <a:srgbClr val="18E3C8">
                <a:alpha val="45000"/>
              </a:srgbClr>
            </a:solidFill>
            <a:prstDash val="solid"/>
          </a:ln>
        </p:spPr>
      </p:sp>
      <p:sp>
        <p:nvSpPr>
          <p:cNvPr id="101" name="Text 99"/>
          <p:cNvSpPr txBox="1"/>
          <p:nvPr/>
        </p:nvSpPr>
        <p:spPr>
          <a:xfrm>
            <a:off x="533400" y="1295400"/>
            <a:ext cx="723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8E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 GENERATIVE AI · DATA SCIENCE WORKSHOP</a:t>
            </a:r>
            <a:endParaRPr lang="en-US" sz="1200" dirty="0"/>
          </a:p>
        </p:txBody>
      </p:sp>
      <p:sp>
        <p:nvSpPr>
          <p:cNvPr id="102" name="Text 100"/>
          <p:cNvSpPr txBox="1"/>
          <p:nvPr/>
        </p:nvSpPr>
        <p:spPr>
          <a:xfrm>
            <a:off x="533400" y="1581150"/>
            <a:ext cx="7429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00" b="1" spc="200" kern="0" dirty="0">
                <a:solidFill>
                  <a:srgbClr val="EA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CARDIO</a:t>
            </a:r>
            <a:pPr algn="l" indent="0" marL="0">
              <a:buNone/>
            </a:pPr>
            <a:r>
              <a:rPr lang="en-US" sz="6300" b="1" spc="200" kern="0" dirty="0">
                <a:solidFill>
                  <a:srgbClr val="18E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</a:t>
            </a:r>
            <a:endParaRPr lang="en-US" sz="6300" dirty="0"/>
          </a:p>
        </p:txBody>
      </p:sp>
      <p:sp>
        <p:nvSpPr>
          <p:cNvPr id="103" name="Text 101"/>
          <p:cNvSpPr txBox="1"/>
          <p:nvPr/>
        </p:nvSpPr>
        <p:spPr>
          <a:xfrm>
            <a:off x="533400" y="2686050"/>
            <a:ext cx="609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EA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Data-Driven Cardiovascular Risk Prediction System</a:t>
            </a:r>
            <a:endParaRPr lang="en-US" sz="2100" dirty="0"/>
          </a:p>
        </p:txBody>
      </p:sp>
      <p:sp>
        <p:nvSpPr>
          <p:cNvPr id="104" name="Text 102"/>
          <p:cNvSpPr txBox="1"/>
          <p:nvPr/>
        </p:nvSpPr>
        <p:spPr>
          <a:xfrm>
            <a:off x="533400" y="3581400"/>
            <a:ext cx="5334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EA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Turning Health Data into Meaningful Cardiovascular Risk Insights</a:t>
            </a:r>
            <a:endParaRPr lang="en-US" sz="1500" dirty="0"/>
          </a:p>
        </p:txBody>
      </p:sp>
      <p:sp>
        <p:nvSpPr>
          <p:cNvPr id="105" name="Shape 103"/>
          <p:cNvSpPr/>
          <p:nvPr/>
        </p:nvSpPr>
        <p:spPr>
          <a:xfrm>
            <a:off x="533400" y="4457700"/>
            <a:ext cx="2381250" cy="685800"/>
          </a:xfrm>
          <a:prstGeom prst="roundRect">
            <a:avLst>
              <a:gd name="adj" fmla="val 11111"/>
            </a:avLst>
          </a:prstGeom>
          <a:solidFill>
            <a:srgbClr val="0F2550"/>
          </a:solidFill>
          <a:ln w="12700">
            <a:solidFill>
              <a:srgbClr val="2A4A80"/>
            </a:solidFill>
            <a:prstDash val="solid"/>
          </a:ln>
        </p:spPr>
      </p:sp>
      <p:sp>
        <p:nvSpPr>
          <p:cNvPr id="106" name="Text 104"/>
          <p:cNvSpPr txBox="1"/>
          <p:nvPr/>
        </p:nvSpPr>
        <p:spPr>
          <a:xfrm>
            <a:off x="704850" y="4552950"/>
            <a:ext cx="2095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18E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</a:t>
            </a:r>
            <a:endParaRPr lang="en-US" sz="975" dirty="0"/>
          </a:p>
        </p:txBody>
      </p:sp>
      <p:sp>
        <p:nvSpPr>
          <p:cNvPr id="107" name="Text 105"/>
          <p:cNvSpPr txBox="1"/>
          <p:nvPr/>
        </p:nvSpPr>
        <p:spPr>
          <a:xfrm>
            <a:off x="704850" y="4743450"/>
            <a:ext cx="2095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EA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Anjali Jayakumar</a:t>
            </a:r>
            <a:endParaRPr lang="en-US" sz="1425" dirty="0"/>
          </a:p>
        </p:txBody>
      </p:sp>
      <p:sp>
        <p:nvSpPr>
          <p:cNvPr id="108" name="Shape 106"/>
          <p:cNvSpPr/>
          <p:nvPr/>
        </p:nvSpPr>
        <p:spPr>
          <a:xfrm>
            <a:off x="3048000" y="4457700"/>
            <a:ext cx="4191000" cy="685800"/>
          </a:xfrm>
          <a:prstGeom prst="roundRect">
            <a:avLst>
              <a:gd name="adj" fmla="val 11111"/>
            </a:avLst>
          </a:prstGeom>
          <a:solidFill>
            <a:srgbClr val="0F2550"/>
          </a:solidFill>
          <a:ln w="12700">
            <a:solidFill>
              <a:srgbClr val="2A4A80"/>
            </a:solidFill>
            <a:prstDash val="solid"/>
          </a:ln>
        </p:spPr>
      </p:sp>
      <p:sp>
        <p:nvSpPr>
          <p:cNvPr id="109" name="Text 107"/>
          <p:cNvSpPr txBox="1"/>
          <p:nvPr/>
        </p:nvSpPr>
        <p:spPr>
          <a:xfrm>
            <a:off x="3219450" y="4552950"/>
            <a:ext cx="1905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18E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</a:t>
            </a:r>
            <a:endParaRPr lang="en-US" sz="975" dirty="0"/>
          </a:p>
        </p:txBody>
      </p:sp>
      <p:sp>
        <p:nvSpPr>
          <p:cNvPr id="110" name="Text 108"/>
          <p:cNvSpPr txBox="1"/>
          <p:nvPr/>
        </p:nvSpPr>
        <p:spPr>
          <a:xfrm>
            <a:off x="3219450" y="4743450"/>
            <a:ext cx="3905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EA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SCIENCE</a:t>
            </a:r>
            <a:pPr algn="l" indent="0" marL="0">
              <a:buNone/>
            </a:pPr>
            <a:r>
              <a:rPr lang="en-US" sz="1425" dirty="0">
                <a:solidFill>
                  <a:srgbClr val="EA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Biomedical Engineering</a:t>
            </a:r>
            <a:endParaRPr lang="en-US" sz="1425" dirty="0"/>
          </a:p>
        </p:txBody>
      </p:sp>
      <p:sp>
        <p:nvSpPr>
          <p:cNvPr id="111" name="Text 109"/>
          <p:cNvSpPr txBox="1"/>
          <p:nvPr/>
        </p:nvSpPr>
        <p:spPr>
          <a:xfrm>
            <a:off x="533400" y="6286500"/>
            <a:ext cx="762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EA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Educational research prototype · risk estimation, not a diagnostic tool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6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3400" y="361950"/>
            <a:ext cx="111252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EA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PREDICTION: UNDERSTANDING CARDIOVASCULAR RISK</a:t>
            </a:r>
            <a:endParaRPr lang="en-US" sz="2250" dirty="0"/>
          </a:p>
        </p:txBody>
      </p:sp>
      <p:sp>
        <p:nvSpPr>
          <p:cNvPr id="3" name="Shape 1"/>
          <p:cNvSpPr/>
          <p:nvPr/>
        </p:nvSpPr>
        <p:spPr>
          <a:xfrm>
            <a:off x="533400" y="1162050"/>
            <a:ext cx="5334000" cy="876300"/>
          </a:xfrm>
          <a:prstGeom prst="roundRect">
            <a:avLst>
              <a:gd name="adj" fmla="val 10870"/>
            </a:avLst>
          </a:prstGeom>
          <a:solidFill>
            <a:srgbClr val="0F2550"/>
          </a:solidFill>
          <a:ln w="12700">
            <a:solidFill>
              <a:srgbClr val="2A4A8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04850" y="1438275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3B82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04850" y="1438275"/>
            <a:ext cx="3238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75" dirty="0"/>
          </a:p>
        </p:txBody>
      </p:sp>
      <p:sp>
        <p:nvSpPr>
          <p:cNvPr id="6" name="Text 4"/>
          <p:cNvSpPr txBox="1"/>
          <p:nvPr/>
        </p:nvSpPr>
        <p:spPr>
          <a:xfrm>
            <a:off x="1181100" y="1219200"/>
            <a:ext cx="45529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EA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Cardiovascular risk depends on many interacting factors: age, blood pressure, cholesterol, diabetes, obesity, smoking, inactivity.</a:t>
            </a:r>
            <a:endParaRPr lang="en-US" sz="1275" dirty="0"/>
          </a:p>
        </p:txBody>
      </p:sp>
      <p:sp>
        <p:nvSpPr>
          <p:cNvPr id="7" name="Shape 5"/>
          <p:cNvSpPr/>
          <p:nvPr/>
        </p:nvSpPr>
        <p:spPr>
          <a:xfrm>
            <a:off x="533400" y="2152650"/>
            <a:ext cx="5334000" cy="876300"/>
          </a:xfrm>
          <a:prstGeom prst="roundRect">
            <a:avLst>
              <a:gd name="adj" fmla="val 10870"/>
            </a:avLst>
          </a:prstGeom>
          <a:solidFill>
            <a:srgbClr val="0F2550"/>
          </a:solidFill>
          <a:ln w="12700">
            <a:solidFill>
              <a:srgbClr val="2A4A8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04850" y="2428875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3B82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04850" y="2428875"/>
            <a:ext cx="3238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75" dirty="0"/>
          </a:p>
        </p:txBody>
      </p:sp>
      <p:sp>
        <p:nvSpPr>
          <p:cNvPr id="10" name="Text 8"/>
          <p:cNvSpPr txBox="1"/>
          <p:nvPr/>
        </p:nvSpPr>
        <p:spPr>
          <a:xfrm>
            <a:off x="1181100" y="2209800"/>
            <a:ext cx="45529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EA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approaches can estimate risk, but a numerical score alone may not show what is driving it.</a:t>
            </a:r>
            <a:endParaRPr lang="en-US" sz="1275" dirty="0"/>
          </a:p>
        </p:txBody>
      </p:sp>
      <p:sp>
        <p:nvSpPr>
          <p:cNvPr id="11" name="Shape 9"/>
          <p:cNvSpPr/>
          <p:nvPr/>
        </p:nvSpPr>
        <p:spPr>
          <a:xfrm>
            <a:off x="533400" y="3143250"/>
            <a:ext cx="5334000" cy="876300"/>
          </a:xfrm>
          <a:prstGeom prst="roundRect">
            <a:avLst>
              <a:gd name="adj" fmla="val 10870"/>
            </a:avLst>
          </a:prstGeom>
          <a:solidFill>
            <a:srgbClr val="0F2550"/>
          </a:solidFill>
          <a:ln w="12700">
            <a:solidFill>
              <a:srgbClr val="2A4A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04850" y="3419475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3B82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04850" y="3419475"/>
            <a:ext cx="3238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75" dirty="0"/>
          </a:p>
        </p:txBody>
      </p:sp>
      <p:sp>
        <p:nvSpPr>
          <p:cNvPr id="14" name="Text 12"/>
          <p:cNvSpPr txBox="1"/>
          <p:nvPr/>
        </p:nvSpPr>
        <p:spPr>
          <a:xfrm>
            <a:off x="1181100" y="3200400"/>
            <a:ext cx="45529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EA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people can receive similar risk estimates with very different risk-factor patterns.</a:t>
            </a:r>
            <a:endParaRPr lang="en-US" sz="1275" dirty="0"/>
          </a:p>
        </p:txBody>
      </p:sp>
      <p:sp>
        <p:nvSpPr>
          <p:cNvPr id="15" name="Shape 13"/>
          <p:cNvSpPr/>
          <p:nvPr/>
        </p:nvSpPr>
        <p:spPr>
          <a:xfrm>
            <a:off x="533400" y="4133850"/>
            <a:ext cx="5334000" cy="876300"/>
          </a:xfrm>
          <a:prstGeom prst="roundRect">
            <a:avLst>
              <a:gd name="adj" fmla="val 10870"/>
            </a:avLst>
          </a:prstGeom>
          <a:solidFill>
            <a:srgbClr val="0F2550"/>
          </a:solidFill>
          <a:ln w="12700">
            <a:solidFill>
              <a:srgbClr val="2A4A8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4850" y="4410075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3B82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04850" y="4410075"/>
            <a:ext cx="3238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75" dirty="0"/>
          </a:p>
        </p:txBody>
      </p:sp>
      <p:sp>
        <p:nvSpPr>
          <p:cNvPr id="18" name="Text 16"/>
          <p:cNvSpPr txBox="1"/>
          <p:nvPr/>
        </p:nvSpPr>
        <p:spPr>
          <a:xfrm>
            <a:off x="1181100" y="4191000"/>
            <a:ext cx="45529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EA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data needs to become understandable insight, not just isolated measurements.</a:t>
            </a:r>
            <a:endParaRPr lang="en-US" sz="1275" dirty="0"/>
          </a:p>
        </p:txBody>
      </p:sp>
      <p:sp>
        <p:nvSpPr>
          <p:cNvPr id="19" name="Shape 17"/>
          <p:cNvSpPr/>
          <p:nvPr/>
        </p:nvSpPr>
        <p:spPr>
          <a:xfrm>
            <a:off x="7277100" y="1504950"/>
            <a:ext cx="1809750" cy="1066800"/>
          </a:xfrm>
          <a:prstGeom prst="line">
            <a:avLst/>
          </a:prstGeom>
          <a:noFill/>
          <a:ln w="19050">
            <a:solidFill>
              <a:srgbClr val="3B82FF">
                <a:alpha val="60000"/>
              </a:srgbClr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 flipH="1">
            <a:off x="9086850" y="1504950"/>
            <a:ext cx="95250" cy="1066800"/>
          </a:xfrm>
          <a:prstGeom prst="line">
            <a:avLst/>
          </a:prstGeom>
          <a:noFill/>
          <a:ln w="19050">
            <a:solidFill>
              <a:srgbClr val="3B82FF">
                <a:alpha val="60000"/>
              </a:srgbClr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 flipH="1">
            <a:off x="9086850" y="1504950"/>
            <a:ext cx="2000250" cy="1066800"/>
          </a:xfrm>
          <a:prstGeom prst="line">
            <a:avLst/>
          </a:prstGeom>
          <a:noFill/>
          <a:ln w="19050">
            <a:solidFill>
              <a:srgbClr val="3B82FF">
                <a:alpha val="60000"/>
              </a:srgbClr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277100" y="1981200"/>
            <a:ext cx="1809750" cy="590550"/>
          </a:xfrm>
          <a:prstGeom prst="line">
            <a:avLst/>
          </a:prstGeom>
          <a:noFill/>
          <a:ln w="19050">
            <a:solidFill>
              <a:srgbClr val="3B82FF">
                <a:alpha val="60000"/>
              </a:srgbClr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 flipH="1">
            <a:off x="9086850" y="1981200"/>
            <a:ext cx="95250" cy="590550"/>
          </a:xfrm>
          <a:prstGeom prst="line">
            <a:avLst/>
          </a:prstGeom>
          <a:noFill/>
          <a:ln w="19050">
            <a:solidFill>
              <a:srgbClr val="3B82FF">
                <a:alpha val="60000"/>
              </a:srgbClr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 flipH="1">
            <a:off x="9086850" y="1981200"/>
            <a:ext cx="2000250" cy="590550"/>
          </a:xfrm>
          <a:prstGeom prst="line">
            <a:avLst/>
          </a:prstGeom>
          <a:noFill/>
          <a:ln w="19050">
            <a:solidFill>
              <a:srgbClr val="3B82FF">
                <a:alpha val="60000"/>
              </a:srgbClr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562725" y="1143000"/>
            <a:ext cx="1428750" cy="361950"/>
          </a:xfrm>
          <a:prstGeom prst="roundRect">
            <a:avLst>
              <a:gd name="adj" fmla="val 21053"/>
            </a:avLst>
          </a:prstGeom>
          <a:solidFill>
            <a:srgbClr val="0F2550"/>
          </a:solidFill>
          <a:ln w="12700">
            <a:solidFill>
              <a:srgbClr val="2A4A8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562725" y="1143000"/>
            <a:ext cx="14287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A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Blood Pressure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467725" y="1143000"/>
            <a:ext cx="1428750" cy="361950"/>
          </a:xfrm>
          <a:prstGeom prst="roundRect">
            <a:avLst>
              <a:gd name="adj" fmla="val 21053"/>
            </a:avLst>
          </a:prstGeom>
          <a:solidFill>
            <a:srgbClr val="0F2550"/>
          </a:solidFill>
          <a:ln w="12700">
            <a:solidFill>
              <a:srgbClr val="2A4A8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467725" y="1143000"/>
            <a:ext cx="14287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A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Cholesterol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0372725" y="1143000"/>
            <a:ext cx="1428750" cy="361950"/>
          </a:xfrm>
          <a:prstGeom prst="roundRect">
            <a:avLst>
              <a:gd name="adj" fmla="val 21053"/>
            </a:avLst>
          </a:prstGeom>
          <a:solidFill>
            <a:srgbClr val="0F2550"/>
          </a:solidFill>
          <a:ln w="12700">
            <a:solidFill>
              <a:srgbClr val="2A4A8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372725" y="1143000"/>
            <a:ext cx="14287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A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BMI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562725" y="1619250"/>
            <a:ext cx="1428750" cy="361950"/>
          </a:xfrm>
          <a:prstGeom prst="roundRect">
            <a:avLst>
              <a:gd name="adj" fmla="val 21053"/>
            </a:avLst>
          </a:prstGeom>
          <a:solidFill>
            <a:srgbClr val="0F2550"/>
          </a:solidFill>
          <a:ln w="12700">
            <a:solidFill>
              <a:srgbClr val="2A4A8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562725" y="1619250"/>
            <a:ext cx="14287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A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Smoking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467725" y="1619250"/>
            <a:ext cx="1428750" cy="361950"/>
          </a:xfrm>
          <a:prstGeom prst="roundRect">
            <a:avLst>
              <a:gd name="adj" fmla="val 21053"/>
            </a:avLst>
          </a:prstGeom>
          <a:solidFill>
            <a:srgbClr val="0F2550"/>
          </a:solidFill>
          <a:ln w="12700">
            <a:solidFill>
              <a:srgbClr val="2A4A8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467725" y="1619250"/>
            <a:ext cx="14287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A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10372725" y="1619250"/>
            <a:ext cx="1428750" cy="361950"/>
          </a:xfrm>
          <a:prstGeom prst="roundRect">
            <a:avLst>
              <a:gd name="adj" fmla="val 21053"/>
            </a:avLst>
          </a:prstGeom>
          <a:solidFill>
            <a:srgbClr val="0F2550"/>
          </a:solidFill>
          <a:ln w="12700">
            <a:solidFill>
              <a:srgbClr val="2A4A8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372725" y="1619250"/>
            <a:ext cx="14287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A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7943850" y="2590800"/>
            <a:ext cx="2286000" cy="457200"/>
          </a:xfrm>
          <a:prstGeom prst="roundRect">
            <a:avLst>
              <a:gd name="adj" fmla="val 16667"/>
            </a:avLst>
          </a:prstGeom>
          <a:solidFill>
            <a:srgbClr val="0E2A5C"/>
          </a:solidFill>
          <a:ln w="19050">
            <a:solidFill>
              <a:srgbClr val="18E3C8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943850" y="2590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ANALYSIS</a:t>
            </a:r>
            <a:endParaRPr lang="en-US" sz="1425" dirty="0"/>
          </a:p>
        </p:txBody>
      </p:sp>
      <p:sp>
        <p:nvSpPr>
          <p:cNvPr id="39" name="Shape 37"/>
          <p:cNvSpPr/>
          <p:nvPr/>
        </p:nvSpPr>
        <p:spPr>
          <a:xfrm>
            <a:off x="9086850" y="3048000"/>
            <a:ext cx="0" cy="266700"/>
          </a:xfrm>
          <a:prstGeom prst="line">
            <a:avLst/>
          </a:prstGeom>
          <a:noFill/>
          <a:ln w="28575">
            <a:solidFill>
              <a:srgbClr val="18E3C8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8134350" y="3333750"/>
            <a:ext cx="1905000" cy="628650"/>
          </a:xfrm>
          <a:prstGeom prst="roundRect">
            <a:avLst>
              <a:gd name="adj" fmla="val 12121"/>
            </a:avLst>
          </a:prstGeom>
          <a:solidFill>
            <a:srgbClr val="0F2550"/>
          </a:solidFill>
          <a:ln w="25400">
            <a:solidFill>
              <a:srgbClr val="18E3C8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134350" y="3390900"/>
            <a:ext cx="190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EA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SCORE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8134350" y="3581400"/>
            <a:ext cx="1905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B4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</a:t>
            </a:r>
            <a:endParaRPr lang="en-US" sz="2400" dirty="0"/>
          </a:p>
        </p:txBody>
      </p:sp>
      <p:sp>
        <p:nvSpPr>
          <p:cNvPr id="43" name="Shape 41"/>
          <p:cNvSpPr/>
          <p:nvPr/>
        </p:nvSpPr>
        <p:spPr>
          <a:xfrm>
            <a:off x="6515100" y="4210050"/>
            <a:ext cx="5143500" cy="1047750"/>
          </a:xfrm>
          <a:prstGeom prst="roundRect">
            <a:avLst>
              <a:gd name="adj" fmla="val 9091"/>
            </a:avLst>
          </a:prstGeom>
          <a:solidFill>
            <a:srgbClr val="3B2030"/>
          </a:solidFill>
          <a:ln w="12700">
            <a:solidFill>
              <a:srgbClr val="7A4458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515100" y="4362450"/>
            <a:ext cx="5143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>
                <a:solidFill>
                  <a:srgbClr val="EA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score </a:t>
            </a:r>
            <a:pPr algn="ctr" indent="0" marL="0">
              <a:buNone/>
            </a:pPr>
            <a:r>
              <a:rPr lang="en-US" sz="2850" b="1" dirty="0">
                <a:solidFill>
                  <a:srgbClr val="FFB4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≠</a:t>
            </a:r>
            <a:pPr algn="ctr" indent="0" marL="0">
              <a:buNone/>
            </a:pPr>
            <a:r>
              <a:rPr lang="en-US" sz="2850" b="1" dirty="0">
                <a:solidFill>
                  <a:srgbClr val="EA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Same story</a:t>
            </a:r>
            <a:endParaRPr lang="en-US" sz="2850" dirty="0"/>
          </a:p>
        </p:txBody>
      </p:sp>
      <p:sp>
        <p:nvSpPr>
          <p:cNvPr id="45" name="Text 43"/>
          <p:cNvSpPr txBox="1"/>
          <p:nvPr/>
        </p:nvSpPr>
        <p:spPr>
          <a:xfrm>
            <a:off x="6515100" y="4914900"/>
            <a:ext cx="5143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8EA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factor patterns can produce the same number</a:t>
            </a:r>
            <a:endParaRPr lang="en-US" sz="1125" dirty="0"/>
          </a:p>
        </p:txBody>
      </p:sp>
      <p:sp>
        <p:nvSpPr>
          <p:cNvPr id="46" name="Shape 44"/>
          <p:cNvSpPr/>
          <p:nvPr/>
        </p:nvSpPr>
        <p:spPr>
          <a:xfrm>
            <a:off x="1924050" y="6019800"/>
            <a:ext cx="1809750" cy="476250"/>
          </a:xfrm>
          <a:prstGeom prst="roundRect">
            <a:avLst>
              <a:gd name="adj" fmla="val 16000"/>
            </a:avLst>
          </a:prstGeom>
          <a:solidFill>
            <a:srgbClr val="0F2550"/>
          </a:solidFill>
          <a:ln w="19050">
            <a:solidFill>
              <a:srgbClr val="18E3C8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1924050" y="6019800"/>
            <a:ext cx="18097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</a:t>
            </a:r>
            <a:endParaRPr lang="en-US" sz="1500" dirty="0"/>
          </a:p>
        </p:txBody>
      </p:sp>
      <p:sp>
        <p:nvSpPr>
          <p:cNvPr id="48" name="Text 46"/>
          <p:cNvSpPr txBox="1"/>
          <p:nvPr/>
        </p:nvSpPr>
        <p:spPr>
          <a:xfrm>
            <a:off x="1924050" y="6019800"/>
            <a:ext cx="18097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A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</a:t>
            </a:r>
            <a:endParaRPr lang="en-US" sz="1500" dirty="0"/>
          </a:p>
        </p:txBody>
      </p:sp>
      <p:sp>
        <p:nvSpPr>
          <p:cNvPr id="49" name="Text 47"/>
          <p:cNvSpPr txBox="1"/>
          <p:nvPr/>
        </p:nvSpPr>
        <p:spPr>
          <a:xfrm>
            <a:off x="3733800" y="6019800"/>
            <a:ext cx="4572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18E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50" dirty="0"/>
          </a:p>
        </p:txBody>
      </p:sp>
      <p:sp>
        <p:nvSpPr>
          <p:cNvPr id="50" name="Shape 48"/>
          <p:cNvSpPr/>
          <p:nvPr/>
        </p:nvSpPr>
        <p:spPr>
          <a:xfrm>
            <a:off x="4191000" y="6019800"/>
            <a:ext cx="2476500" cy="476250"/>
          </a:xfrm>
          <a:prstGeom prst="roundRect">
            <a:avLst>
              <a:gd name="adj" fmla="val 16000"/>
            </a:avLst>
          </a:prstGeom>
          <a:solidFill>
            <a:srgbClr val="0F2550"/>
          </a:solidFill>
          <a:ln w="19050">
            <a:solidFill>
              <a:srgbClr val="18E3C8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4191000" y="6019800"/>
            <a:ext cx="2476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</a:t>
            </a:r>
            <a:endParaRPr lang="en-US" sz="1500" dirty="0"/>
          </a:p>
        </p:txBody>
      </p:sp>
      <p:sp>
        <p:nvSpPr>
          <p:cNvPr id="52" name="Text 50"/>
          <p:cNvSpPr txBox="1"/>
          <p:nvPr/>
        </p:nvSpPr>
        <p:spPr>
          <a:xfrm>
            <a:off x="4191000" y="6019800"/>
            <a:ext cx="2476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A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</a:t>
            </a:r>
            <a:endParaRPr lang="en-US" sz="1500" dirty="0"/>
          </a:p>
        </p:txBody>
      </p:sp>
      <p:sp>
        <p:nvSpPr>
          <p:cNvPr id="53" name="Text 51"/>
          <p:cNvSpPr txBox="1"/>
          <p:nvPr/>
        </p:nvSpPr>
        <p:spPr>
          <a:xfrm>
            <a:off x="6667500" y="6019800"/>
            <a:ext cx="4572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18E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50" dirty="0"/>
          </a:p>
        </p:txBody>
      </p:sp>
      <p:sp>
        <p:nvSpPr>
          <p:cNvPr id="54" name="Shape 52"/>
          <p:cNvSpPr/>
          <p:nvPr/>
        </p:nvSpPr>
        <p:spPr>
          <a:xfrm>
            <a:off x="7124700" y="6019800"/>
            <a:ext cx="3143250" cy="476250"/>
          </a:xfrm>
          <a:prstGeom prst="roundRect">
            <a:avLst>
              <a:gd name="adj" fmla="val 16000"/>
            </a:avLst>
          </a:prstGeom>
          <a:solidFill>
            <a:srgbClr val="18E3C8"/>
          </a:solidFill>
          <a:ln w="19050">
            <a:solidFill>
              <a:srgbClr val="18E3C8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7124700" y="6019800"/>
            <a:ext cx="3143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41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ACTIONABLE INSIGHT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6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38250" y="666750"/>
            <a:ext cx="5905500" cy="5334000"/>
          </a:xfrm>
          <a:prstGeom prst="heart">
            <a:avLst/>
          </a:prstGeom>
          <a:solidFill>
            <a:srgbClr val="3B82FF">
              <a:alpha val="8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33400" y="361950"/>
            <a:ext cx="9525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A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CARDIOINSIGHT WORKS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14625" y="2047875"/>
            <a:ext cx="3143250" cy="3143250"/>
          </a:xfrm>
          <a:prstGeom prst="ellipse">
            <a:avLst/>
          </a:prstGeom>
          <a:ln w="12700">
            <a:solidFill>
              <a:srgbClr val="3A5C94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4727896" y="2111205"/>
            <a:ext cx="462226" cy="222596"/>
          </a:xfrm>
          <a:prstGeom prst="line">
            <a:avLst/>
          </a:prstGeom>
          <a:noFill/>
          <a:ln w="31750">
            <a:solidFill>
              <a:srgbClr val="18E3C8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5740844" y="3024386"/>
            <a:ext cx="114160" cy="500169"/>
          </a:xfrm>
          <a:prstGeom prst="line">
            <a:avLst/>
          </a:prstGeom>
          <a:noFill/>
          <a:ln w="31750">
            <a:solidFill>
              <a:srgbClr val="18E3C8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 flipH="1">
            <a:off x="5338584" y="4385700"/>
            <a:ext cx="319870" cy="401104"/>
          </a:xfrm>
          <a:prstGeom prst="line">
            <a:avLst/>
          </a:prstGeom>
          <a:noFill/>
          <a:ln w="31750">
            <a:solidFill>
              <a:srgbClr val="18E3C8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 flipH="1">
            <a:off x="4029734" y="5170050"/>
            <a:ext cx="513032" cy="0"/>
          </a:xfrm>
          <a:prstGeom prst="line">
            <a:avLst/>
          </a:prstGeom>
          <a:noFill/>
          <a:ln w="31750">
            <a:solidFill>
              <a:srgbClr val="18E3C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 flipH="1" flipV="1">
            <a:off x="2914046" y="4385700"/>
            <a:ext cx="319870" cy="401104"/>
          </a:xfrm>
          <a:prstGeom prst="line">
            <a:avLst/>
          </a:prstGeom>
          <a:noFill/>
          <a:ln w="31750">
            <a:solidFill>
              <a:srgbClr val="18E3C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 flipV="1">
            <a:off x="2717496" y="3024386"/>
            <a:ext cx="114160" cy="500169"/>
          </a:xfrm>
          <a:prstGeom prst="line">
            <a:avLst/>
          </a:prstGeom>
          <a:noFill/>
          <a:ln w="31750">
            <a:solidFill>
              <a:srgbClr val="18E3C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 flipV="1">
            <a:off x="3382379" y="2111205"/>
            <a:ext cx="462226" cy="222596"/>
          </a:xfrm>
          <a:prstGeom prst="line">
            <a:avLst/>
          </a:prstGeom>
          <a:noFill/>
          <a:ln w="31750">
            <a:solidFill>
              <a:srgbClr val="18E3C8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943350" y="1704975"/>
            <a:ext cx="685800" cy="685800"/>
          </a:xfrm>
          <a:prstGeom prst="ellipse">
            <a:avLst/>
          </a:prstGeom>
          <a:solidFill>
            <a:srgbClr val="16407A"/>
          </a:solidFill>
          <a:ln w="25400">
            <a:solidFill>
              <a:srgbClr val="18E3C8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24325" y="1885950"/>
            <a:ext cx="323850" cy="32385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3886200" y="1647825"/>
            <a:ext cx="228600" cy="228600"/>
          </a:xfrm>
          <a:prstGeom prst="ellipse">
            <a:avLst/>
          </a:prstGeom>
          <a:solidFill>
            <a:srgbClr val="18E3C8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3886200" y="1647825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041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75" dirty="0"/>
          </a:p>
        </p:txBody>
      </p:sp>
      <p:sp>
        <p:nvSpPr>
          <p:cNvPr id="16" name="Text 13"/>
          <p:cNvSpPr txBox="1"/>
          <p:nvPr/>
        </p:nvSpPr>
        <p:spPr>
          <a:xfrm>
            <a:off x="2857500" y="1419225"/>
            <a:ext cx="2857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EA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HEALTH DATA</a:t>
            </a:r>
            <a:endParaRPr lang="en-US" sz="1125" dirty="0"/>
          </a:p>
        </p:txBody>
      </p:sp>
      <p:sp>
        <p:nvSpPr>
          <p:cNvPr id="17" name="Shape 14"/>
          <p:cNvSpPr/>
          <p:nvPr/>
        </p:nvSpPr>
        <p:spPr>
          <a:xfrm>
            <a:off x="5172096" y="2296708"/>
            <a:ext cx="685800" cy="685800"/>
          </a:xfrm>
          <a:prstGeom prst="ellipse">
            <a:avLst/>
          </a:prstGeom>
          <a:solidFill>
            <a:srgbClr val="16407A"/>
          </a:solidFill>
          <a:ln w="25400">
            <a:solidFill>
              <a:srgbClr val="18E3C8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3071" y="2477683"/>
            <a:ext cx="323850" cy="32385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114946" y="2239558"/>
            <a:ext cx="228600" cy="228600"/>
          </a:xfrm>
          <a:prstGeom prst="ellipse">
            <a:avLst/>
          </a:prstGeom>
          <a:solidFill>
            <a:srgbClr val="18E3C8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5114946" y="223955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041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75" dirty="0"/>
          </a:p>
        </p:txBody>
      </p:sp>
      <p:sp>
        <p:nvSpPr>
          <p:cNvPr id="21" name="Text 17"/>
          <p:cNvSpPr txBox="1"/>
          <p:nvPr/>
        </p:nvSpPr>
        <p:spPr>
          <a:xfrm>
            <a:off x="5972196" y="2525308"/>
            <a:ext cx="2762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EA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PREPROCESSING</a:t>
            </a:r>
            <a:endParaRPr lang="en-US" sz="1125" dirty="0"/>
          </a:p>
        </p:txBody>
      </p:sp>
      <p:sp>
        <p:nvSpPr>
          <p:cNvPr id="22" name="Shape 18"/>
          <p:cNvSpPr/>
          <p:nvPr/>
        </p:nvSpPr>
        <p:spPr>
          <a:xfrm>
            <a:off x="5475571" y="3626319"/>
            <a:ext cx="685800" cy="685800"/>
          </a:xfrm>
          <a:prstGeom prst="ellipse">
            <a:avLst/>
          </a:prstGeom>
          <a:solidFill>
            <a:srgbClr val="16407A"/>
          </a:solidFill>
          <a:ln w="25400">
            <a:solidFill>
              <a:srgbClr val="18E3C8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6546" y="3807294"/>
            <a:ext cx="323850" cy="323850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5418421" y="3569169"/>
            <a:ext cx="228600" cy="228600"/>
          </a:xfrm>
          <a:prstGeom prst="ellipse">
            <a:avLst/>
          </a:prstGeom>
          <a:solidFill>
            <a:srgbClr val="18E3C8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5418421" y="3569169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041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75" dirty="0"/>
          </a:p>
        </p:txBody>
      </p:sp>
      <p:sp>
        <p:nvSpPr>
          <p:cNvPr id="26" name="Text 21"/>
          <p:cNvSpPr txBox="1"/>
          <p:nvPr/>
        </p:nvSpPr>
        <p:spPr>
          <a:xfrm>
            <a:off x="6275671" y="3854919"/>
            <a:ext cx="2762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EA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 &amp; FEATURE ANALYSIS</a:t>
            </a:r>
            <a:endParaRPr lang="en-US" sz="1125" dirty="0"/>
          </a:p>
        </p:txBody>
      </p:sp>
      <p:sp>
        <p:nvSpPr>
          <p:cNvPr id="27" name="Shape 22"/>
          <p:cNvSpPr/>
          <p:nvPr/>
        </p:nvSpPr>
        <p:spPr>
          <a:xfrm>
            <a:off x="4625253" y="4692585"/>
            <a:ext cx="685800" cy="685800"/>
          </a:xfrm>
          <a:prstGeom prst="ellipse">
            <a:avLst/>
          </a:prstGeom>
          <a:solidFill>
            <a:srgbClr val="16407A"/>
          </a:solidFill>
          <a:ln w="25400">
            <a:solidFill>
              <a:srgbClr val="18E3C8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6228" y="4873560"/>
            <a:ext cx="323850" cy="323850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4568103" y="4635435"/>
            <a:ext cx="228600" cy="228600"/>
          </a:xfrm>
          <a:prstGeom prst="ellipse">
            <a:avLst/>
          </a:prstGeom>
          <a:solidFill>
            <a:srgbClr val="18E3C8"/>
          </a:solidFill>
          <a:ln/>
        </p:spPr>
      </p:sp>
      <p:sp>
        <p:nvSpPr>
          <p:cNvPr id="30" name="Text 24"/>
          <p:cNvSpPr txBox="1"/>
          <p:nvPr/>
        </p:nvSpPr>
        <p:spPr>
          <a:xfrm>
            <a:off x="4568103" y="4635435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041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75" dirty="0"/>
          </a:p>
        </p:txBody>
      </p:sp>
      <p:sp>
        <p:nvSpPr>
          <p:cNvPr id="31" name="Text 25"/>
          <p:cNvSpPr txBox="1"/>
          <p:nvPr/>
        </p:nvSpPr>
        <p:spPr>
          <a:xfrm>
            <a:off x="5425353" y="4921185"/>
            <a:ext cx="2762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EA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RISK PREDICTION</a:t>
            </a:r>
            <a:endParaRPr lang="en-US" sz="1125" dirty="0"/>
          </a:p>
        </p:txBody>
      </p:sp>
      <p:sp>
        <p:nvSpPr>
          <p:cNvPr id="32" name="Shape 26"/>
          <p:cNvSpPr/>
          <p:nvPr/>
        </p:nvSpPr>
        <p:spPr>
          <a:xfrm>
            <a:off x="3261447" y="4692585"/>
            <a:ext cx="685800" cy="685800"/>
          </a:xfrm>
          <a:prstGeom prst="ellipse">
            <a:avLst/>
          </a:prstGeom>
          <a:solidFill>
            <a:srgbClr val="16407A"/>
          </a:solidFill>
          <a:ln w="25400">
            <a:solidFill>
              <a:srgbClr val="18E3C8"/>
            </a:solidFill>
            <a:prstDash val="solid"/>
          </a:ln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42422" y="4873560"/>
            <a:ext cx="323850" cy="323850"/>
          </a:xfrm>
          <a:prstGeom prst="rect">
            <a:avLst/>
          </a:prstGeom>
        </p:spPr>
      </p:pic>
      <p:sp>
        <p:nvSpPr>
          <p:cNvPr id="34" name="Shape 27"/>
          <p:cNvSpPr/>
          <p:nvPr/>
        </p:nvSpPr>
        <p:spPr>
          <a:xfrm>
            <a:off x="3204297" y="4635435"/>
            <a:ext cx="228600" cy="228600"/>
          </a:xfrm>
          <a:prstGeom prst="ellipse">
            <a:avLst/>
          </a:prstGeom>
          <a:solidFill>
            <a:srgbClr val="18E3C8"/>
          </a:solidFill>
          <a:ln/>
        </p:spPr>
      </p:sp>
      <p:sp>
        <p:nvSpPr>
          <p:cNvPr id="35" name="Text 28"/>
          <p:cNvSpPr txBox="1"/>
          <p:nvPr/>
        </p:nvSpPr>
        <p:spPr>
          <a:xfrm>
            <a:off x="3204297" y="4635435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041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75" dirty="0"/>
          </a:p>
        </p:txBody>
      </p:sp>
      <p:sp>
        <p:nvSpPr>
          <p:cNvPr id="36" name="Text 29"/>
          <p:cNvSpPr txBox="1"/>
          <p:nvPr/>
        </p:nvSpPr>
        <p:spPr>
          <a:xfrm>
            <a:off x="384897" y="4921185"/>
            <a:ext cx="2762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25" b="1" dirty="0">
                <a:solidFill>
                  <a:srgbClr val="EA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EXPLANATION</a:t>
            </a:r>
            <a:endParaRPr lang="en-US" sz="1125" dirty="0"/>
          </a:p>
        </p:txBody>
      </p:sp>
      <p:sp>
        <p:nvSpPr>
          <p:cNvPr id="37" name="Shape 30"/>
          <p:cNvSpPr/>
          <p:nvPr/>
        </p:nvSpPr>
        <p:spPr>
          <a:xfrm>
            <a:off x="2411129" y="3626319"/>
            <a:ext cx="685800" cy="685800"/>
          </a:xfrm>
          <a:prstGeom prst="ellipse">
            <a:avLst/>
          </a:prstGeom>
          <a:solidFill>
            <a:srgbClr val="16407A"/>
          </a:solidFill>
          <a:ln w="25400">
            <a:solidFill>
              <a:srgbClr val="18E3C8"/>
            </a:solidFill>
            <a:prstDash val="solid"/>
          </a:ln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92104" y="3807294"/>
            <a:ext cx="323850" cy="323850"/>
          </a:xfrm>
          <a:prstGeom prst="rect">
            <a:avLst/>
          </a:prstGeom>
        </p:spPr>
      </p:pic>
      <p:sp>
        <p:nvSpPr>
          <p:cNvPr id="39" name="Shape 31"/>
          <p:cNvSpPr/>
          <p:nvPr/>
        </p:nvSpPr>
        <p:spPr>
          <a:xfrm>
            <a:off x="2353979" y="3569169"/>
            <a:ext cx="228600" cy="228600"/>
          </a:xfrm>
          <a:prstGeom prst="ellipse">
            <a:avLst/>
          </a:prstGeom>
          <a:solidFill>
            <a:srgbClr val="18E3C8"/>
          </a:solidFill>
          <a:ln/>
        </p:spPr>
      </p:sp>
      <p:sp>
        <p:nvSpPr>
          <p:cNvPr id="40" name="Text 32"/>
          <p:cNvSpPr txBox="1"/>
          <p:nvPr/>
        </p:nvSpPr>
        <p:spPr>
          <a:xfrm>
            <a:off x="2353979" y="3569169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041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75" dirty="0"/>
          </a:p>
        </p:txBody>
      </p:sp>
      <p:sp>
        <p:nvSpPr>
          <p:cNvPr id="41" name="Text 33"/>
          <p:cNvSpPr txBox="1"/>
          <p:nvPr/>
        </p:nvSpPr>
        <p:spPr>
          <a:xfrm>
            <a:off x="-465421" y="3854919"/>
            <a:ext cx="2762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25" b="1" dirty="0">
                <a:solidFill>
                  <a:srgbClr val="EA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WHAT-IF SIMULATION</a:t>
            </a:r>
            <a:endParaRPr lang="en-US" sz="1125" dirty="0"/>
          </a:p>
        </p:txBody>
      </p:sp>
      <p:sp>
        <p:nvSpPr>
          <p:cNvPr id="42" name="Shape 34"/>
          <p:cNvSpPr/>
          <p:nvPr/>
        </p:nvSpPr>
        <p:spPr>
          <a:xfrm>
            <a:off x="2714604" y="2296708"/>
            <a:ext cx="685800" cy="685800"/>
          </a:xfrm>
          <a:prstGeom prst="ellipse">
            <a:avLst/>
          </a:prstGeom>
          <a:solidFill>
            <a:srgbClr val="16407A"/>
          </a:solidFill>
          <a:ln w="25400">
            <a:solidFill>
              <a:srgbClr val="18E3C8"/>
            </a:solidFill>
            <a:prstDash val="solid"/>
          </a:ln>
        </p:spPr>
      </p:sp>
      <p:pic>
        <p:nvPicPr>
          <p:cNvPr id="4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95579" y="2477683"/>
            <a:ext cx="323850" cy="323850"/>
          </a:xfrm>
          <a:prstGeom prst="rect">
            <a:avLst/>
          </a:prstGeom>
        </p:spPr>
      </p:pic>
      <p:sp>
        <p:nvSpPr>
          <p:cNvPr id="44" name="Shape 35"/>
          <p:cNvSpPr/>
          <p:nvPr/>
        </p:nvSpPr>
        <p:spPr>
          <a:xfrm>
            <a:off x="2657454" y="2239558"/>
            <a:ext cx="228600" cy="228600"/>
          </a:xfrm>
          <a:prstGeom prst="ellipse">
            <a:avLst/>
          </a:prstGeom>
          <a:solidFill>
            <a:srgbClr val="18E3C8"/>
          </a:solidFill>
          <a:ln/>
        </p:spPr>
      </p:sp>
      <p:sp>
        <p:nvSpPr>
          <p:cNvPr id="45" name="Text 36"/>
          <p:cNvSpPr txBox="1"/>
          <p:nvPr/>
        </p:nvSpPr>
        <p:spPr>
          <a:xfrm>
            <a:off x="2657454" y="223955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041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75" dirty="0"/>
          </a:p>
        </p:txBody>
      </p:sp>
      <p:sp>
        <p:nvSpPr>
          <p:cNvPr id="46" name="Text 37"/>
          <p:cNvSpPr txBox="1"/>
          <p:nvPr/>
        </p:nvSpPr>
        <p:spPr>
          <a:xfrm>
            <a:off x="-161946" y="2525308"/>
            <a:ext cx="2762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25" b="1" dirty="0">
                <a:solidFill>
                  <a:srgbClr val="EA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PERSONALIZED INSIGHT</a:t>
            </a:r>
            <a:endParaRPr lang="en-US" sz="1125" dirty="0"/>
          </a:p>
        </p:txBody>
      </p:sp>
      <p:sp>
        <p:nvSpPr>
          <p:cNvPr id="47" name="Shape 38"/>
          <p:cNvSpPr/>
          <p:nvPr/>
        </p:nvSpPr>
        <p:spPr>
          <a:xfrm>
            <a:off x="3505200" y="2838450"/>
            <a:ext cx="1562100" cy="1562100"/>
          </a:xfrm>
          <a:prstGeom prst="ellipse">
            <a:avLst/>
          </a:prstGeom>
          <a:solidFill>
            <a:srgbClr val="0F2550"/>
          </a:solidFill>
          <a:ln w="38100">
            <a:solidFill>
              <a:srgbClr val="18E3C8"/>
            </a:solidFill>
            <a:prstDash val="solid"/>
          </a:ln>
        </p:spPr>
      </p:sp>
      <p:sp>
        <p:nvSpPr>
          <p:cNvPr id="48" name="Shape 39"/>
          <p:cNvSpPr/>
          <p:nvPr/>
        </p:nvSpPr>
        <p:spPr>
          <a:xfrm>
            <a:off x="4038600" y="3028950"/>
            <a:ext cx="495300" cy="438150"/>
          </a:xfrm>
          <a:prstGeom prst="heart">
            <a:avLst/>
          </a:prstGeom>
          <a:solidFill>
            <a:srgbClr val="3B2030"/>
          </a:solidFill>
          <a:ln w="19050">
            <a:solidFill>
              <a:srgbClr val="FF5D7A"/>
            </a:solidFill>
            <a:prstDash val="solid"/>
          </a:ln>
        </p:spPr>
      </p:sp>
      <p:sp>
        <p:nvSpPr>
          <p:cNvPr id="49" name="Shape 40"/>
          <p:cNvSpPr/>
          <p:nvPr/>
        </p:nvSpPr>
        <p:spPr>
          <a:xfrm>
            <a:off x="3829050" y="3638550"/>
            <a:ext cx="247650" cy="0"/>
          </a:xfrm>
          <a:prstGeom prst="line">
            <a:avLst/>
          </a:prstGeom>
          <a:noFill/>
          <a:ln w="25400">
            <a:solidFill>
              <a:srgbClr val="EAF4FF"/>
            </a:solidFill>
            <a:prstDash val="solid"/>
          </a:ln>
        </p:spPr>
      </p:sp>
      <p:sp>
        <p:nvSpPr>
          <p:cNvPr id="50" name="Shape 41"/>
          <p:cNvSpPr/>
          <p:nvPr/>
        </p:nvSpPr>
        <p:spPr>
          <a:xfrm flipV="1">
            <a:off x="4076700" y="3552825"/>
            <a:ext cx="66675" cy="85725"/>
          </a:xfrm>
          <a:prstGeom prst="line">
            <a:avLst/>
          </a:prstGeom>
          <a:noFill/>
          <a:ln w="25400">
            <a:solidFill>
              <a:srgbClr val="EAF4FF"/>
            </a:solidFill>
            <a:prstDash val="solid"/>
          </a:ln>
        </p:spPr>
      </p:sp>
      <p:sp>
        <p:nvSpPr>
          <p:cNvPr id="51" name="Shape 42"/>
          <p:cNvSpPr/>
          <p:nvPr/>
        </p:nvSpPr>
        <p:spPr>
          <a:xfrm>
            <a:off x="4143375" y="3552825"/>
            <a:ext cx="95250" cy="228600"/>
          </a:xfrm>
          <a:prstGeom prst="line">
            <a:avLst/>
          </a:prstGeom>
          <a:noFill/>
          <a:ln w="25400">
            <a:solidFill>
              <a:srgbClr val="EAF4FF"/>
            </a:solidFill>
            <a:prstDash val="solid"/>
          </a:ln>
        </p:spPr>
      </p:sp>
      <p:sp>
        <p:nvSpPr>
          <p:cNvPr id="52" name="Shape 43"/>
          <p:cNvSpPr/>
          <p:nvPr/>
        </p:nvSpPr>
        <p:spPr>
          <a:xfrm flipV="1">
            <a:off x="4238625" y="3638550"/>
            <a:ext cx="76200" cy="142875"/>
          </a:xfrm>
          <a:prstGeom prst="line">
            <a:avLst/>
          </a:prstGeom>
          <a:noFill/>
          <a:ln w="25400">
            <a:solidFill>
              <a:srgbClr val="EAF4FF"/>
            </a:solidFill>
            <a:prstDash val="solid"/>
          </a:ln>
        </p:spPr>
      </p:sp>
      <p:sp>
        <p:nvSpPr>
          <p:cNvPr id="53" name="Shape 44"/>
          <p:cNvSpPr/>
          <p:nvPr/>
        </p:nvSpPr>
        <p:spPr>
          <a:xfrm>
            <a:off x="4314825" y="3638550"/>
            <a:ext cx="209550" cy="0"/>
          </a:xfrm>
          <a:prstGeom prst="line">
            <a:avLst/>
          </a:prstGeom>
          <a:noFill/>
          <a:ln w="25400">
            <a:solidFill>
              <a:srgbClr val="EAF4FF"/>
            </a:solidFill>
            <a:prstDash val="solid"/>
          </a:ln>
        </p:spPr>
      </p:sp>
      <p:sp>
        <p:nvSpPr>
          <p:cNvPr id="54" name="Text 45"/>
          <p:cNvSpPr txBox="1"/>
          <p:nvPr/>
        </p:nvSpPr>
        <p:spPr>
          <a:xfrm>
            <a:off x="3524250" y="3924300"/>
            <a:ext cx="1524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EA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CARDIOINSIGHT</a:t>
            </a:r>
            <a:endParaRPr lang="en-US" sz="1125" dirty="0"/>
          </a:p>
        </p:txBody>
      </p:sp>
      <p:sp>
        <p:nvSpPr>
          <p:cNvPr id="55" name="Shape 46"/>
          <p:cNvSpPr/>
          <p:nvPr/>
        </p:nvSpPr>
        <p:spPr>
          <a:xfrm>
            <a:off x="8610600" y="1066800"/>
            <a:ext cx="3048000" cy="1181100"/>
          </a:xfrm>
          <a:prstGeom prst="roundRect">
            <a:avLst>
              <a:gd name="adj" fmla="val 6452"/>
            </a:avLst>
          </a:prstGeom>
          <a:solidFill>
            <a:srgbClr val="0F2550"/>
          </a:solidFill>
          <a:ln w="12700">
            <a:solidFill>
              <a:srgbClr val="2A4A80"/>
            </a:solidFill>
            <a:prstDash val="solid"/>
          </a:ln>
        </p:spPr>
      </p:sp>
      <p:sp>
        <p:nvSpPr>
          <p:cNvPr id="56" name="Shape 47"/>
          <p:cNvSpPr/>
          <p:nvPr/>
        </p:nvSpPr>
        <p:spPr>
          <a:xfrm>
            <a:off x="8610600" y="1066800"/>
            <a:ext cx="47625" cy="1181100"/>
          </a:xfrm>
          <a:prstGeom prst="rect">
            <a:avLst/>
          </a:prstGeom>
          <a:solidFill>
            <a:srgbClr val="18E3C8"/>
          </a:solidFill>
          <a:ln/>
        </p:spPr>
      </p:sp>
      <p:sp>
        <p:nvSpPr>
          <p:cNvPr id="57" name="Text 48"/>
          <p:cNvSpPr txBox="1"/>
          <p:nvPr/>
        </p:nvSpPr>
        <p:spPr>
          <a:xfrm>
            <a:off x="8820150" y="1181100"/>
            <a:ext cx="1905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8EA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1</a:t>
            </a:r>
            <a:endParaRPr lang="en-US" sz="975" dirty="0"/>
          </a:p>
        </p:txBody>
      </p:sp>
      <p:sp>
        <p:nvSpPr>
          <p:cNvPr id="58" name="Text 49"/>
          <p:cNvSpPr txBox="1"/>
          <p:nvPr/>
        </p:nvSpPr>
        <p:spPr>
          <a:xfrm>
            <a:off x="8820150" y="1371600"/>
            <a:ext cx="2762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EA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RISK, DIFFERENT STORY</a:t>
            </a:r>
            <a:endParaRPr lang="en-US" sz="1125" dirty="0"/>
          </a:p>
        </p:txBody>
      </p:sp>
      <p:sp>
        <p:nvSpPr>
          <p:cNvPr id="59" name="Text 50"/>
          <p:cNvSpPr txBox="1"/>
          <p:nvPr/>
        </p:nvSpPr>
        <p:spPr>
          <a:xfrm>
            <a:off x="8820150" y="1638300"/>
            <a:ext cx="2667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8" dirty="0">
                <a:solidFill>
                  <a:srgbClr val="8EA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Compares the risk-factor patterns behind identical scores.</a:t>
            </a:r>
            <a:endParaRPr lang="en-US" sz="1088" dirty="0"/>
          </a:p>
        </p:txBody>
      </p:sp>
      <p:sp>
        <p:nvSpPr>
          <p:cNvPr id="60" name="Shape 51"/>
          <p:cNvSpPr/>
          <p:nvPr/>
        </p:nvSpPr>
        <p:spPr>
          <a:xfrm>
            <a:off x="8610600" y="2381250"/>
            <a:ext cx="3048000" cy="1181100"/>
          </a:xfrm>
          <a:prstGeom prst="roundRect">
            <a:avLst>
              <a:gd name="adj" fmla="val 6452"/>
            </a:avLst>
          </a:prstGeom>
          <a:solidFill>
            <a:srgbClr val="0F2550"/>
          </a:solidFill>
          <a:ln w="12700">
            <a:solidFill>
              <a:srgbClr val="2A4A80"/>
            </a:solidFill>
            <a:prstDash val="solid"/>
          </a:ln>
        </p:spPr>
      </p:sp>
      <p:sp>
        <p:nvSpPr>
          <p:cNvPr id="61" name="Shape 52"/>
          <p:cNvSpPr/>
          <p:nvPr/>
        </p:nvSpPr>
        <p:spPr>
          <a:xfrm>
            <a:off x="8610600" y="2381250"/>
            <a:ext cx="47625" cy="1181100"/>
          </a:xfrm>
          <a:prstGeom prst="rect">
            <a:avLst/>
          </a:prstGeom>
          <a:solidFill>
            <a:srgbClr val="3B82FF"/>
          </a:solidFill>
          <a:ln/>
        </p:spPr>
      </p:sp>
      <p:sp>
        <p:nvSpPr>
          <p:cNvPr id="62" name="Text 53"/>
          <p:cNvSpPr txBox="1"/>
          <p:nvPr/>
        </p:nvSpPr>
        <p:spPr>
          <a:xfrm>
            <a:off x="8820150" y="2495550"/>
            <a:ext cx="1905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8EA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2</a:t>
            </a:r>
            <a:endParaRPr lang="en-US" sz="975" dirty="0"/>
          </a:p>
        </p:txBody>
      </p:sp>
      <p:sp>
        <p:nvSpPr>
          <p:cNvPr id="63" name="Text 54"/>
          <p:cNvSpPr txBox="1"/>
          <p:nvPr/>
        </p:nvSpPr>
        <p:spPr>
          <a:xfrm>
            <a:off x="8820150" y="2686050"/>
            <a:ext cx="2762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EA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TIME MACHINE</a:t>
            </a:r>
            <a:endParaRPr lang="en-US" sz="1125" dirty="0"/>
          </a:p>
        </p:txBody>
      </p:sp>
      <p:sp>
        <p:nvSpPr>
          <p:cNvPr id="64" name="Text 55"/>
          <p:cNvSpPr txBox="1"/>
          <p:nvPr/>
        </p:nvSpPr>
        <p:spPr>
          <a:xfrm>
            <a:off x="8820150" y="2952750"/>
            <a:ext cx="2667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8" dirty="0">
                <a:solidFill>
                  <a:srgbClr val="8EA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Explores illustrative model-based scenarios over time.</a:t>
            </a:r>
            <a:endParaRPr lang="en-US" sz="1088" dirty="0"/>
          </a:p>
        </p:txBody>
      </p:sp>
      <p:sp>
        <p:nvSpPr>
          <p:cNvPr id="65" name="Shape 56"/>
          <p:cNvSpPr/>
          <p:nvPr/>
        </p:nvSpPr>
        <p:spPr>
          <a:xfrm>
            <a:off x="8610600" y="3695700"/>
            <a:ext cx="3048000" cy="1181100"/>
          </a:xfrm>
          <a:prstGeom prst="roundRect">
            <a:avLst>
              <a:gd name="adj" fmla="val 6452"/>
            </a:avLst>
          </a:prstGeom>
          <a:solidFill>
            <a:srgbClr val="0F2550"/>
          </a:solidFill>
          <a:ln w="12700">
            <a:solidFill>
              <a:srgbClr val="2A4A80"/>
            </a:solidFill>
            <a:prstDash val="solid"/>
          </a:ln>
        </p:spPr>
      </p:sp>
      <p:sp>
        <p:nvSpPr>
          <p:cNvPr id="66" name="Shape 57"/>
          <p:cNvSpPr/>
          <p:nvPr/>
        </p:nvSpPr>
        <p:spPr>
          <a:xfrm>
            <a:off x="8610600" y="3695700"/>
            <a:ext cx="47625" cy="1181100"/>
          </a:xfrm>
          <a:prstGeom prst="rect">
            <a:avLst/>
          </a:prstGeom>
          <a:solidFill>
            <a:srgbClr val="FF5D7A"/>
          </a:solidFill>
          <a:ln/>
        </p:spPr>
      </p:sp>
      <p:sp>
        <p:nvSpPr>
          <p:cNvPr id="67" name="Text 58"/>
          <p:cNvSpPr txBox="1"/>
          <p:nvPr/>
        </p:nvSpPr>
        <p:spPr>
          <a:xfrm>
            <a:off x="8820150" y="3810000"/>
            <a:ext cx="1905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8EA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3</a:t>
            </a:r>
            <a:endParaRPr lang="en-US" sz="975" dirty="0"/>
          </a:p>
        </p:txBody>
      </p:sp>
      <p:sp>
        <p:nvSpPr>
          <p:cNvPr id="68" name="Text 59"/>
          <p:cNvSpPr txBox="1"/>
          <p:nvPr/>
        </p:nvSpPr>
        <p:spPr>
          <a:xfrm>
            <a:off x="8820150" y="4000500"/>
            <a:ext cx="2762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EA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CARDIOINSIGHT CHALLENGE MODE</a:t>
            </a:r>
            <a:endParaRPr lang="en-US" sz="1125" dirty="0"/>
          </a:p>
        </p:txBody>
      </p:sp>
      <p:sp>
        <p:nvSpPr>
          <p:cNvPr id="69" name="Text 60"/>
          <p:cNvSpPr txBox="1"/>
          <p:nvPr/>
        </p:nvSpPr>
        <p:spPr>
          <a:xfrm>
            <a:off x="8820150" y="4267200"/>
            <a:ext cx="2667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8" dirty="0">
                <a:solidFill>
                  <a:srgbClr val="8EA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to lower the model score by changing risk factors.</a:t>
            </a:r>
            <a:endParaRPr lang="en-US" sz="1088" dirty="0"/>
          </a:p>
        </p:txBody>
      </p:sp>
      <p:sp>
        <p:nvSpPr>
          <p:cNvPr id="70" name="Shape 61"/>
          <p:cNvSpPr/>
          <p:nvPr/>
        </p:nvSpPr>
        <p:spPr>
          <a:xfrm>
            <a:off x="3238500" y="6248400"/>
            <a:ext cx="5715000" cy="361950"/>
          </a:xfrm>
          <a:prstGeom prst="roundRect">
            <a:avLst>
              <a:gd name="adj" fmla="val 50000"/>
            </a:avLst>
          </a:prstGeom>
          <a:solidFill>
            <a:srgbClr val="0E2A5C"/>
          </a:solidFill>
          <a:ln w="19050">
            <a:solidFill>
              <a:srgbClr val="18E3C8"/>
            </a:solidFill>
            <a:prstDash val="solid"/>
          </a:ln>
        </p:spPr>
      </p:sp>
      <p:sp>
        <p:nvSpPr>
          <p:cNvPr id="71" name="Text 62"/>
          <p:cNvSpPr txBox="1"/>
          <p:nvPr/>
        </p:nvSpPr>
        <p:spPr>
          <a:xfrm>
            <a:off x="3238500" y="6248400"/>
            <a:ext cx="5715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 </a:t>
            </a:r>
            <a:pPr algn="ctr" indent="0" marL="0">
              <a:buNone/>
            </a:pPr>
            <a:r>
              <a:rPr lang="en-US" sz="1275" b="1" dirty="0">
                <a:solidFill>
                  <a:srgbClr val="6EE3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pPr algn="ctr" indent="0" marL="0">
              <a:buNone/>
            </a:pPr>
            <a:r>
              <a:rPr lang="en-US" sz="12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EXPLAIN </a:t>
            </a:r>
            <a:pPr algn="ctr" indent="0" marL="0">
              <a:buNone/>
            </a:pPr>
            <a:r>
              <a:rPr lang="en-US" sz="1275" b="1" dirty="0">
                <a:solidFill>
                  <a:srgbClr val="6EE3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pPr algn="ctr" indent="0" marL="0">
              <a:buNone/>
            </a:pPr>
            <a:r>
              <a:rPr lang="en-US" sz="12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SIMULATE </a:t>
            </a:r>
            <a:pPr algn="ctr" indent="0" marL="0">
              <a:buNone/>
            </a:pPr>
            <a:r>
              <a:rPr lang="en-US" sz="1275" b="1" dirty="0">
                <a:solidFill>
                  <a:srgbClr val="6EE3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pPr algn="ctr" indent="0" marL="0">
              <a:buNone/>
            </a:pPr>
            <a:r>
              <a:rPr lang="en-US" sz="12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UNDERSTAND</a:t>
            </a:r>
            <a:endParaRPr lang="en-US" sz="12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6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3400" y="266700"/>
            <a:ext cx="5334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A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CARDIOINSIGHT PROTOTYPE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715000" y="381000"/>
            <a:ext cx="6096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8EA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Educational research prototype • Risk estimation, not diagnosis</a:t>
            </a:r>
            <a:endParaRPr lang="en-US" sz="1125" dirty="0"/>
          </a:p>
        </p:txBody>
      </p:sp>
      <p:sp>
        <p:nvSpPr>
          <p:cNvPr id="4" name="Shape 2"/>
          <p:cNvSpPr/>
          <p:nvPr/>
        </p:nvSpPr>
        <p:spPr>
          <a:xfrm>
            <a:off x="533400" y="800100"/>
            <a:ext cx="11125200" cy="5200650"/>
          </a:xfrm>
          <a:prstGeom prst="rect">
            <a:avLst/>
          </a:prstGeom>
          <a:solidFill>
            <a:srgbClr val="091B3E"/>
          </a:solidFill>
          <a:ln w="12700">
            <a:solidFill>
              <a:srgbClr val="2A4A8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3400" y="800100"/>
            <a:ext cx="11125200" cy="342900"/>
          </a:xfrm>
          <a:prstGeom prst="rect">
            <a:avLst/>
          </a:prstGeom>
          <a:solidFill>
            <a:srgbClr val="16407A"/>
          </a:solidFill>
          <a:ln/>
        </p:spPr>
      </p:sp>
      <p:sp>
        <p:nvSpPr>
          <p:cNvPr id="6" name="Shape 4"/>
          <p:cNvSpPr/>
          <p:nvPr/>
        </p:nvSpPr>
        <p:spPr>
          <a:xfrm>
            <a:off x="704850" y="895350"/>
            <a:ext cx="171450" cy="152400"/>
          </a:xfrm>
          <a:prstGeom prst="heart">
            <a:avLst/>
          </a:prstGeom>
          <a:solidFill>
            <a:srgbClr val="18E3C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71550" y="800100"/>
            <a:ext cx="476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CardioInsight — Risk Explorer</a:t>
            </a:r>
            <a:endParaRPr lang="en-US" sz="1125" dirty="0"/>
          </a:p>
        </p:txBody>
      </p:sp>
      <p:sp>
        <p:nvSpPr>
          <p:cNvPr id="8" name="Text 6"/>
          <p:cNvSpPr txBox="1"/>
          <p:nvPr/>
        </p:nvSpPr>
        <p:spPr>
          <a:xfrm>
            <a:off x="8572500" y="800100"/>
            <a:ext cx="29146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38" dirty="0">
                <a:solidFill>
                  <a:srgbClr val="9BE8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values · fictional profiles</a:t>
            </a:r>
            <a:endParaRPr lang="en-US" sz="938" dirty="0"/>
          </a:p>
        </p:txBody>
      </p:sp>
      <p:sp>
        <p:nvSpPr>
          <p:cNvPr id="9" name="Shape 7"/>
          <p:cNvSpPr/>
          <p:nvPr/>
        </p:nvSpPr>
        <p:spPr>
          <a:xfrm>
            <a:off x="647700" y="1257300"/>
            <a:ext cx="2381250" cy="2247900"/>
          </a:xfrm>
          <a:prstGeom prst="roundRect">
            <a:avLst>
              <a:gd name="adj" fmla="val 4237"/>
            </a:avLst>
          </a:prstGeom>
          <a:solidFill>
            <a:srgbClr val="0F2550"/>
          </a:solidFill>
          <a:ln w="12700">
            <a:solidFill>
              <a:srgbClr val="2A4A8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1050" y="1362075"/>
            <a:ext cx="38100" cy="161925"/>
          </a:xfrm>
          <a:prstGeom prst="rect">
            <a:avLst/>
          </a:prstGeom>
          <a:solidFill>
            <a:srgbClr val="18E3C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04875" y="1343025"/>
            <a:ext cx="2000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88" b="1" dirty="0">
                <a:solidFill>
                  <a:srgbClr val="EA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PROFILE</a:t>
            </a:r>
            <a:endParaRPr lang="en-US" sz="1088" dirty="0"/>
          </a:p>
        </p:txBody>
      </p:sp>
      <p:sp>
        <p:nvSpPr>
          <p:cNvPr id="12" name="Text 10"/>
          <p:cNvSpPr txBox="1"/>
          <p:nvPr/>
        </p:nvSpPr>
        <p:spPr>
          <a:xfrm>
            <a:off x="781050" y="1676400"/>
            <a:ext cx="1143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EA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1809750" y="1676400"/>
            <a:ext cx="10858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25" b="1" dirty="0">
                <a:solidFill>
                  <a:srgbClr val="EA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 yrs</a:t>
            </a:r>
            <a:endParaRPr lang="en-US" sz="1125" dirty="0"/>
          </a:p>
        </p:txBody>
      </p:sp>
      <p:sp>
        <p:nvSpPr>
          <p:cNvPr id="14" name="Shape 12"/>
          <p:cNvSpPr/>
          <p:nvPr/>
        </p:nvSpPr>
        <p:spPr>
          <a:xfrm>
            <a:off x="781050" y="1933575"/>
            <a:ext cx="2114550" cy="0"/>
          </a:xfrm>
          <a:prstGeom prst="line">
            <a:avLst/>
          </a:prstGeom>
          <a:noFill/>
          <a:ln w="9525">
            <a:solidFill>
              <a:srgbClr val="1E3A6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81050" y="1933575"/>
            <a:ext cx="1143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EA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Blood Pressure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1809750" y="1933575"/>
            <a:ext cx="10858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25" b="1" dirty="0">
                <a:solidFill>
                  <a:srgbClr val="EA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148/92 mmHg</a:t>
            </a:r>
            <a:endParaRPr lang="en-US" sz="1125" dirty="0"/>
          </a:p>
        </p:txBody>
      </p:sp>
      <p:sp>
        <p:nvSpPr>
          <p:cNvPr id="17" name="Shape 15"/>
          <p:cNvSpPr/>
          <p:nvPr/>
        </p:nvSpPr>
        <p:spPr>
          <a:xfrm>
            <a:off x="781050" y="2190750"/>
            <a:ext cx="2114550" cy="0"/>
          </a:xfrm>
          <a:prstGeom prst="line">
            <a:avLst/>
          </a:prstGeom>
          <a:noFill/>
          <a:ln w="9525">
            <a:solidFill>
              <a:srgbClr val="1E3A6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81050" y="2190750"/>
            <a:ext cx="1143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EA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Cholesterol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1809750" y="2190750"/>
            <a:ext cx="10858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25" b="1" dirty="0">
                <a:solidFill>
                  <a:srgbClr val="EA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238 mg/dL</a:t>
            </a:r>
            <a:endParaRPr lang="en-US" sz="1125" dirty="0"/>
          </a:p>
        </p:txBody>
      </p:sp>
      <p:sp>
        <p:nvSpPr>
          <p:cNvPr id="20" name="Shape 18"/>
          <p:cNvSpPr/>
          <p:nvPr/>
        </p:nvSpPr>
        <p:spPr>
          <a:xfrm>
            <a:off x="781050" y="2447925"/>
            <a:ext cx="2114550" cy="0"/>
          </a:xfrm>
          <a:prstGeom prst="line">
            <a:avLst/>
          </a:prstGeom>
          <a:noFill/>
          <a:ln w="9525">
            <a:solidFill>
              <a:srgbClr val="1E3A6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81050" y="2447925"/>
            <a:ext cx="1143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EA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BMI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1809750" y="2447925"/>
            <a:ext cx="10858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25" b="1" dirty="0">
                <a:solidFill>
                  <a:srgbClr val="EA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29.4</a:t>
            </a:r>
            <a:endParaRPr lang="en-US" sz="1125" dirty="0"/>
          </a:p>
        </p:txBody>
      </p:sp>
      <p:sp>
        <p:nvSpPr>
          <p:cNvPr id="23" name="Shape 21"/>
          <p:cNvSpPr/>
          <p:nvPr/>
        </p:nvSpPr>
        <p:spPr>
          <a:xfrm>
            <a:off x="781050" y="2705100"/>
            <a:ext cx="2114550" cy="0"/>
          </a:xfrm>
          <a:prstGeom prst="line">
            <a:avLst/>
          </a:prstGeom>
          <a:noFill/>
          <a:ln w="9525">
            <a:solidFill>
              <a:srgbClr val="1E3A6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81050" y="2705100"/>
            <a:ext cx="1143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EA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Fasting Glucose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1809750" y="2705100"/>
            <a:ext cx="10858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25" b="1" dirty="0">
                <a:solidFill>
                  <a:srgbClr val="EA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118 mg/dL</a:t>
            </a:r>
            <a:endParaRPr lang="en-US" sz="1125" dirty="0"/>
          </a:p>
        </p:txBody>
      </p:sp>
      <p:sp>
        <p:nvSpPr>
          <p:cNvPr id="26" name="Shape 24"/>
          <p:cNvSpPr/>
          <p:nvPr/>
        </p:nvSpPr>
        <p:spPr>
          <a:xfrm>
            <a:off x="781050" y="2962275"/>
            <a:ext cx="2114550" cy="0"/>
          </a:xfrm>
          <a:prstGeom prst="line">
            <a:avLst/>
          </a:prstGeom>
          <a:noFill/>
          <a:ln w="9525">
            <a:solidFill>
              <a:srgbClr val="1E3A6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81050" y="2962275"/>
            <a:ext cx="1143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EA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Smoking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1809750" y="2962275"/>
            <a:ext cx="10858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25" b="1" dirty="0">
                <a:solidFill>
                  <a:srgbClr val="FFB4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</a:t>
            </a:r>
            <a:endParaRPr lang="en-US" sz="1125" dirty="0"/>
          </a:p>
        </p:txBody>
      </p:sp>
      <p:sp>
        <p:nvSpPr>
          <p:cNvPr id="29" name="Shape 27"/>
          <p:cNvSpPr/>
          <p:nvPr/>
        </p:nvSpPr>
        <p:spPr>
          <a:xfrm>
            <a:off x="781050" y="3219450"/>
            <a:ext cx="2114550" cy="0"/>
          </a:xfrm>
          <a:prstGeom prst="line">
            <a:avLst/>
          </a:prstGeom>
          <a:noFill/>
          <a:ln w="9525">
            <a:solidFill>
              <a:srgbClr val="1E3A6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81050" y="3219450"/>
            <a:ext cx="1143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EA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Activity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1809750" y="3219450"/>
            <a:ext cx="10858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25" b="1" dirty="0">
                <a:solidFill>
                  <a:srgbClr val="FFB4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1125" dirty="0"/>
          </a:p>
        </p:txBody>
      </p:sp>
      <p:sp>
        <p:nvSpPr>
          <p:cNvPr id="32" name="Shape 30"/>
          <p:cNvSpPr/>
          <p:nvPr/>
        </p:nvSpPr>
        <p:spPr>
          <a:xfrm>
            <a:off x="3143250" y="1257300"/>
            <a:ext cx="5143500" cy="2247900"/>
          </a:xfrm>
          <a:prstGeom prst="roundRect">
            <a:avLst>
              <a:gd name="adj" fmla="val 4237"/>
            </a:avLst>
          </a:prstGeom>
          <a:solidFill>
            <a:srgbClr val="0F2550"/>
          </a:solidFill>
          <a:ln w="12700">
            <a:solidFill>
              <a:srgbClr val="2A4A8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76600" y="1362075"/>
            <a:ext cx="38100" cy="161925"/>
          </a:xfrm>
          <a:prstGeom prst="rect">
            <a:avLst/>
          </a:prstGeom>
          <a:solidFill>
            <a:srgbClr val="18E3C8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3400425" y="1343025"/>
            <a:ext cx="4762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88" b="1" dirty="0">
                <a:solidFill>
                  <a:srgbClr val="EA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ASSESSMENT</a:t>
            </a:r>
            <a:endParaRPr lang="en-US" sz="1088" dirty="0"/>
          </a:p>
        </p:txBody>
      </p:sp>
      <p:sp>
        <p:nvSpPr>
          <p:cNvPr id="35" name="Text 33"/>
          <p:cNvSpPr txBox="1"/>
          <p:nvPr/>
        </p:nvSpPr>
        <p:spPr>
          <a:xfrm>
            <a:off x="3276600" y="1619250"/>
            <a:ext cx="2457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8" b="1" dirty="0">
                <a:solidFill>
                  <a:srgbClr val="8EA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CARDIOVASCULAR RISK</a:t>
            </a:r>
            <a:endParaRPr lang="en-US" sz="938" dirty="0"/>
          </a:p>
        </p:txBody>
      </p:sp>
      <p:sp>
        <p:nvSpPr>
          <p:cNvPr id="36" name="Shape 34"/>
          <p:cNvSpPr/>
          <p:nvPr/>
        </p:nvSpPr>
        <p:spPr>
          <a:xfrm>
            <a:off x="3276600" y="1847850"/>
            <a:ext cx="2457450" cy="2457450"/>
          </a:xfrm>
          <a:prstGeom prst="blockArc">
            <a:avLst>
              <a:gd name="adj1" fmla="val 10800000"/>
              <a:gd name="adj2" fmla="val 13500000"/>
              <a:gd name="adj3" fmla="val 3875"/>
            </a:avLst>
          </a:prstGeom>
          <a:solidFill>
            <a:srgbClr val="18E3C8"/>
          </a:solidFill>
          <a:ln/>
        </p:spPr>
      </p:sp>
      <p:sp>
        <p:nvSpPr>
          <p:cNvPr id="37" name="Shape 35"/>
          <p:cNvSpPr/>
          <p:nvPr/>
        </p:nvSpPr>
        <p:spPr>
          <a:xfrm>
            <a:off x="3276600" y="1847850"/>
            <a:ext cx="2457450" cy="2457450"/>
          </a:xfrm>
          <a:prstGeom prst="blockArc">
            <a:avLst>
              <a:gd name="adj1" fmla="val 13500000"/>
              <a:gd name="adj2" fmla="val 16200000"/>
              <a:gd name="adj3" fmla="val 3875"/>
            </a:avLst>
          </a:prstGeom>
          <a:solidFill>
            <a:srgbClr val="3B82FF"/>
          </a:solidFill>
          <a:ln/>
        </p:spPr>
      </p:sp>
      <p:sp>
        <p:nvSpPr>
          <p:cNvPr id="38" name="Shape 36"/>
          <p:cNvSpPr/>
          <p:nvPr/>
        </p:nvSpPr>
        <p:spPr>
          <a:xfrm>
            <a:off x="3276600" y="1847850"/>
            <a:ext cx="2457450" cy="2457450"/>
          </a:xfrm>
          <a:prstGeom prst="blockArc">
            <a:avLst>
              <a:gd name="adj1" fmla="val 16200000"/>
              <a:gd name="adj2" fmla="val 18900000"/>
              <a:gd name="adj3" fmla="val 3875"/>
            </a:avLst>
          </a:prstGeom>
          <a:solidFill>
            <a:srgbClr val="FFB454"/>
          </a:solidFill>
          <a:ln/>
        </p:spPr>
      </p:sp>
      <p:sp>
        <p:nvSpPr>
          <p:cNvPr id="39" name="Shape 37"/>
          <p:cNvSpPr/>
          <p:nvPr/>
        </p:nvSpPr>
        <p:spPr>
          <a:xfrm>
            <a:off x="3276600" y="1847850"/>
            <a:ext cx="2457450" cy="2457450"/>
          </a:xfrm>
          <a:prstGeom prst="blockArc">
            <a:avLst>
              <a:gd name="adj1" fmla="val 18900000"/>
              <a:gd name="adj2" fmla="val 21600000"/>
              <a:gd name="adj3" fmla="val 3875"/>
            </a:avLst>
          </a:prstGeom>
          <a:solidFill>
            <a:srgbClr val="FF5D7A"/>
          </a:solidFill>
          <a:ln/>
        </p:spPr>
      </p:sp>
      <p:sp>
        <p:nvSpPr>
          <p:cNvPr id="40" name="Shape 38"/>
          <p:cNvSpPr/>
          <p:nvPr/>
        </p:nvSpPr>
        <p:spPr>
          <a:xfrm flipH="1" flipV="1">
            <a:off x="3629750" y="2201000"/>
            <a:ext cx="148174" cy="148174"/>
          </a:xfrm>
          <a:prstGeom prst="line">
            <a:avLst/>
          </a:prstGeom>
          <a:noFill/>
          <a:ln w="28575">
            <a:solidFill>
              <a:srgbClr val="07163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flipV="1">
            <a:off x="4505325" y="1838325"/>
            <a:ext cx="0" cy="209550"/>
          </a:xfrm>
          <a:prstGeom prst="line">
            <a:avLst/>
          </a:prstGeom>
          <a:noFill/>
          <a:ln w="28575">
            <a:solidFill>
              <a:srgbClr val="07163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flipV="1">
            <a:off x="5232726" y="2201000"/>
            <a:ext cx="148174" cy="148174"/>
          </a:xfrm>
          <a:prstGeom prst="line">
            <a:avLst/>
          </a:prstGeom>
          <a:noFill/>
          <a:ln w="28575">
            <a:solidFill>
              <a:srgbClr val="07163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836860" y="1936972"/>
            <a:ext cx="171450" cy="171450"/>
          </a:xfrm>
          <a:prstGeom prst="ellipse">
            <a:avLst/>
          </a:prstGeom>
          <a:solidFill>
            <a:srgbClr val="EAF4FF"/>
          </a:solidFill>
          <a:ln w="28575">
            <a:solidFill>
              <a:srgbClr val="071633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3552825" y="2400300"/>
            <a:ext cx="1905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>
                <a:solidFill>
                  <a:srgbClr val="EA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 / 100</a:t>
            </a:r>
            <a:endParaRPr lang="en-US" sz="2850" dirty="0"/>
          </a:p>
        </p:txBody>
      </p:sp>
      <p:sp>
        <p:nvSpPr>
          <p:cNvPr id="45" name="Text 43"/>
          <p:cNvSpPr txBox="1"/>
          <p:nvPr/>
        </p:nvSpPr>
        <p:spPr>
          <a:xfrm>
            <a:off x="3552825" y="2857500"/>
            <a:ext cx="1905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B4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ELEVATED</a:t>
            </a:r>
            <a:endParaRPr lang="en-US" sz="1575" dirty="0"/>
          </a:p>
        </p:txBody>
      </p:sp>
      <p:sp>
        <p:nvSpPr>
          <p:cNvPr id="46" name="Text 44"/>
          <p:cNvSpPr txBox="1"/>
          <p:nvPr/>
        </p:nvSpPr>
        <p:spPr>
          <a:xfrm>
            <a:off x="3124200" y="3143250"/>
            <a:ext cx="495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A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900" dirty="0"/>
          </a:p>
        </p:txBody>
      </p:sp>
      <p:sp>
        <p:nvSpPr>
          <p:cNvPr id="47" name="Text 45"/>
          <p:cNvSpPr txBox="1"/>
          <p:nvPr/>
        </p:nvSpPr>
        <p:spPr>
          <a:xfrm>
            <a:off x="5391150" y="3143250"/>
            <a:ext cx="495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A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900" dirty="0"/>
          </a:p>
        </p:txBody>
      </p:sp>
      <p:sp>
        <p:nvSpPr>
          <p:cNvPr id="48" name="Text 46"/>
          <p:cNvSpPr txBox="1"/>
          <p:nvPr/>
        </p:nvSpPr>
        <p:spPr>
          <a:xfrm>
            <a:off x="5867400" y="1676400"/>
            <a:ext cx="2286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8EA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CONTRIBUTING FACTORS</a:t>
            </a:r>
            <a:endParaRPr lang="en-US" sz="938" dirty="0"/>
          </a:p>
        </p:txBody>
      </p:sp>
      <p:sp>
        <p:nvSpPr>
          <p:cNvPr id="49" name="Text 47"/>
          <p:cNvSpPr txBox="1"/>
          <p:nvPr/>
        </p:nvSpPr>
        <p:spPr>
          <a:xfrm>
            <a:off x="5867400" y="2019300"/>
            <a:ext cx="9906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13" dirty="0">
                <a:solidFill>
                  <a:srgbClr val="EA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Blood Pressure</a:t>
            </a:r>
            <a:endParaRPr lang="en-US" sz="1013" dirty="0"/>
          </a:p>
        </p:txBody>
      </p:sp>
      <p:sp>
        <p:nvSpPr>
          <p:cNvPr id="50" name="Shape 48"/>
          <p:cNvSpPr/>
          <p:nvPr/>
        </p:nvSpPr>
        <p:spPr>
          <a:xfrm>
            <a:off x="6877050" y="2066925"/>
            <a:ext cx="1257300" cy="114300"/>
          </a:xfrm>
          <a:prstGeom prst="rect">
            <a:avLst/>
          </a:prstGeom>
          <a:solidFill>
            <a:srgbClr val="1E3A6B"/>
          </a:solidFill>
          <a:ln/>
        </p:spPr>
      </p:sp>
      <p:sp>
        <p:nvSpPr>
          <p:cNvPr id="51" name="Shape 49"/>
          <p:cNvSpPr/>
          <p:nvPr/>
        </p:nvSpPr>
        <p:spPr>
          <a:xfrm>
            <a:off x="6877050" y="2066925"/>
            <a:ext cx="1156716" cy="114300"/>
          </a:xfrm>
          <a:prstGeom prst="rect">
            <a:avLst/>
          </a:prstGeom>
          <a:solidFill>
            <a:srgbClr val="FFB454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5867400" y="2343150"/>
            <a:ext cx="9906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13" dirty="0">
                <a:solidFill>
                  <a:srgbClr val="EA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Cholesterol</a:t>
            </a:r>
            <a:endParaRPr lang="en-US" sz="1013" dirty="0"/>
          </a:p>
        </p:txBody>
      </p:sp>
      <p:sp>
        <p:nvSpPr>
          <p:cNvPr id="53" name="Shape 51"/>
          <p:cNvSpPr/>
          <p:nvPr/>
        </p:nvSpPr>
        <p:spPr>
          <a:xfrm>
            <a:off x="6877050" y="2390775"/>
            <a:ext cx="1257300" cy="114300"/>
          </a:xfrm>
          <a:prstGeom prst="rect">
            <a:avLst/>
          </a:prstGeom>
          <a:solidFill>
            <a:srgbClr val="1E3A6B"/>
          </a:solidFill>
          <a:ln/>
        </p:spPr>
      </p:sp>
      <p:sp>
        <p:nvSpPr>
          <p:cNvPr id="54" name="Shape 52"/>
          <p:cNvSpPr/>
          <p:nvPr/>
        </p:nvSpPr>
        <p:spPr>
          <a:xfrm>
            <a:off x="6877050" y="2390775"/>
            <a:ext cx="804672" cy="114300"/>
          </a:xfrm>
          <a:prstGeom prst="rect">
            <a:avLst/>
          </a:prstGeom>
          <a:solidFill>
            <a:srgbClr val="3B82FF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5867400" y="2667000"/>
            <a:ext cx="9906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13" dirty="0">
                <a:solidFill>
                  <a:srgbClr val="EA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BMI</a:t>
            </a:r>
            <a:endParaRPr lang="en-US" sz="1013" dirty="0"/>
          </a:p>
        </p:txBody>
      </p:sp>
      <p:sp>
        <p:nvSpPr>
          <p:cNvPr id="56" name="Shape 54"/>
          <p:cNvSpPr/>
          <p:nvPr/>
        </p:nvSpPr>
        <p:spPr>
          <a:xfrm>
            <a:off x="6877050" y="2714625"/>
            <a:ext cx="1257300" cy="114300"/>
          </a:xfrm>
          <a:prstGeom prst="rect">
            <a:avLst/>
          </a:prstGeom>
          <a:solidFill>
            <a:srgbClr val="1E3A6B"/>
          </a:solidFill>
          <a:ln/>
        </p:spPr>
      </p:sp>
      <p:sp>
        <p:nvSpPr>
          <p:cNvPr id="57" name="Shape 55"/>
          <p:cNvSpPr/>
          <p:nvPr/>
        </p:nvSpPr>
        <p:spPr>
          <a:xfrm>
            <a:off x="6877050" y="2714625"/>
            <a:ext cx="653796" cy="114300"/>
          </a:xfrm>
          <a:prstGeom prst="rect">
            <a:avLst/>
          </a:prstGeom>
          <a:solidFill>
            <a:srgbClr val="3B82FF"/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5867400" y="2990850"/>
            <a:ext cx="9906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13" dirty="0">
                <a:solidFill>
                  <a:srgbClr val="EA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Smoking</a:t>
            </a:r>
            <a:endParaRPr lang="en-US" sz="1013" dirty="0"/>
          </a:p>
        </p:txBody>
      </p:sp>
      <p:sp>
        <p:nvSpPr>
          <p:cNvPr id="59" name="Shape 57"/>
          <p:cNvSpPr/>
          <p:nvPr/>
        </p:nvSpPr>
        <p:spPr>
          <a:xfrm>
            <a:off x="6877050" y="3038475"/>
            <a:ext cx="1257300" cy="114300"/>
          </a:xfrm>
          <a:prstGeom prst="rect">
            <a:avLst/>
          </a:prstGeom>
          <a:solidFill>
            <a:srgbClr val="1E3A6B"/>
          </a:solidFill>
          <a:ln/>
        </p:spPr>
      </p:sp>
      <p:sp>
        <p:nvSpPr>
          <p:cNvPr id="60" name="Shape 58"/>
          <p:cNvSpPr/>
          <p:nvPr/>
        </p:nvSpPr>
        <p:spPr>
          <a:xfrm>
            <a:off x="6877050" y="3038475"/>
            <a:ext cx="402336" cy="114300"/>
          </a:xfrm>
          <a:prstGeom prst="rect">
            <a:avLst/>
          </a:prstGeom>
          <a:solidFill>
            <a:srgbClr val="18E3C8"/>
          </a:solidFill>
          <a:ln/>
        </p:spPr>
      </p:sp>
      <p:sp>
        <p:nvSpPr>
          <p:cNvPr id="61" name="Shape 59"/>
          <p:cNvSpPr/>
          <p:nvPr/>
        </p:nvSpPr>
        <p:spPr>
          <a:xfrm>
            <a:off x="8401050" y="1257300"/>
            <a:ext cx="3143250" cy="2247900"/>
          </a:xfrm>
          <a:prstGeom prst="roundRect">
            <a:avLst>
              <a:gd name="adj" fmla="val 4237"/>
            </a:avLst>
          </a:prstGeom>
          <a:solidFill>
            <a:srgbClr val="0F2550"/>
          </a:solidFill>
          <a:ln w="12700">
            <a:solidFill>
              <a:srgbClr val="2A4A8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534400" y="1362075"/>
            <a:ext cx="38100" cy="161925"/>
          </a:xfrm>
          <a:prstGeom prst="rect">
            <a:avLst/>
          </a:prstGeom>
          <a:solidFill>
            <a:srgbClr val="18E3C8"/>
          </a:solidFill>
          <a:ln/>
        </p:spPr>
      </p:sp>
      <p:sp>
        <p:nvSpPr>
          <p:cNvPr id="63" name="Text 61"/>
          <p:cNvSpPr txBox="1"/>
          <p:nvPr/>
        </p:nvSpPr>
        <p:spPr>
          <a:xfrm>
            <a:off x="8658225" y="1343025"/>
            <a:ext cx="2762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88" b="1" dirty="0">
                <a:solidFill>
                  <a:srgbClr val="EA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SCORE?</a:t>
            </a:r>
            <a:endParaRPr lang="en-US" sz="1088" dirty="0"/>
          </a:p>
        </p:txBody>
      </p:sp>
      <p:sp>
        <p:nvSpPr>
          <p:cNvPr id="64" name="Shape 62"/>
          <p:cNvSpPr/>
          <p:nvPr/>
        </p:nvSpPr>
        <p:spPr>
          <a:xfrm>
            <a:off x="8534400" y="1657350"/>
            <a:ext cx="104775" cy="104775"/>
          </a:xfrm>
          <a:prstGeom prst="rect">
            <a:avLst/>
          </a:prstGeom>
          <a:solidFill>
            <a:srgbClr val="FF5D7A"/>
          </a:solidFill>
          <a:ln/>
        </p:spPr>
      </p:sp>
      <p:sp>
        <p:nvSpPr>
          <p:cNvPr id="65" name="Text 63"/>
          <p:cNvSpPr txBox="1"/>
          <p:nvPr/>
        </p:nvSpPr>
        <p:spPr>
          <a:xfrm>
            <a:off x="8724900" y="1619250"/>
            <a:ext cx="2705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EA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Blood pressure is one of the stronger contributors in this prediction.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8534400" y="2105025"/>
            <a:ext cx="104775" cy="104775"/>
          </a:xfrm>
          <a:prstGeom prst="rect">
            <a:avLst/>
          </a:prstGeom>
          <a:solidFill>
            <a:srgbClr val="3B82FF"/>
          </a:solidFill>
          <a:ln/>
        </p:spPr>
      </p:sp>
      <p:sp>
        <p:nvSpPr>
          <p:cNvPr id="67" name="Text 65"/>
          <p:cNvSpPr txBox="1"/>
          <p:nvPr/>
        </p:nvSpPr>
        <p:spPr>
          <a:xfrm>
            <a:off x="8724900" y="2066925"/>
            <a:ext cx="2705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EA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Cholesterol has a moderate contribution.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8534400" y="2552700"/>
            <a:ext cx="104775" cy="104775"/>
          </a:xfrm>
          <a:prstGeom prst="rect">
            <a:avLst/>
          </a:prstGeom>
          <a:solidFill>
            <a:srgbClr val="3B82FF"/>
          </a:solidFill>
          <a:ln/>
        </p:spPr>
      </p:sp>
      <p:sp>
        <p:nvSpPr>
          <p:cNvPr id="69" name="Text 67"/>
          <p:cNvSpPr txBox="1"/>
          <p:nvPr/>
        </p:nvSpPr>
        <p:spPr>
          <a:xfrm>
            <a:off x="8724900" y="2514600"/>
            <a:ext cx="2705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EA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BMI also adds a moderate contribution.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8534400" y="3000375"/>
            <a:ext cx="104775" cy="104775"/>
          </a:xfrm>
          <a:prstGeom prst="rect">
            <a:avLst/>
          </a:prstGeom>
          <a:solidFill>
            <a:srgbClr val="18E3C8"/>
          </a:solidFill>
          <a:ln/>
        </p:spPr>
      </p:sp>
      <p:sp>
        <p:nvSpPr>
          <p:cNvPr id="71" name="Text 69"/>
          <p:cNvSpPr txBox="1"/>
          <p:nvPr/>
        </p:nvSpPr>
        <p:spPr>
          <a:xfrm>
            <a:off x="8724900" y="2962275"/>
            <a:ext cx="2705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EA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Smoking contributes less in this profile.</a:t>
            </a:r>
            <a:endParaRPr lang="en-US" sz="1050" dirty="0"/>
          </a:p>
        </p:txBody>
      </p:sp>
      <p:sp>
        <p:nvSpPr>
          <p:cNvPr id="72" name="Shape 70"/>
          <p:cNvSpPr/>
          <p:nvPr/>
        </p:nvSpPr>
        <p:spPr>
          <a:xfrm>
            <a:off x="647700" y="3619500"/>
            <a:ext cx="3555968" cy="2266950"/>
          </a:xfrm>
          <a:prstGeom prst="roundRect">
            <a:avLst>
              <a:gd name="adj" fmla="val 4202"/>
            </a:avLst>
          </a:prstGeom>
          <a:solidFill>
            <a:srgbClr val="0F2550"/>
          </a:solidFill>
          <a:ln w="12700">
            <a:solidFill>
              <a:srgbClr val="2A4A8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81050" y="3724275"/>
            <a:ext cx="38100" cy="161925"/>
          </a:xfrm>
          <a:prstGeom prst="rect">
            <a:avLst/>
          </a:prstGeom>
          <a:solidFill>
            <a:srgbClr val="18E3C8"/>
          </a:solidFill>
          <a:ln/>
        </p:spPr>
      </p:sp>
      <p:sp>
        <p:nvSpPr>
          <p:cNvPr id="74" name="Text 72"/>
          <p:cNvSpPr txBox="1"/>
          <p:nvPr/>
        </p:nvSpPr>
        <p:spPr>
          <a:xfrm>
            <a:off x="904875" y="3705225"/>
            <a:ext cx="317496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88" b="1" dirty="0">
                <a:solidFill>
                  <a:srgbClr val="EA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SAME RISK, DIFFERENT STORY</a:t>
            </a:r>
            <a:endParaRPr lang="en-US" sz="1088" dirty="0"/>
          </a:p>
        </p:txBody>
      </p:sp>
      <p:sp>
        <p:nvSpPr>
          <p:cNvPr id="75" name="Shape 73"/>
          <p:cNvSpPr/>
          <p:nvPr/>
        </p:nvSpPr>
        <p:spPr>
          <a:xfrm>
            <a:off x="781050" y="3981450"/>
            <a:ext cx="1604963" cy="1028700"/>
          </a:xfrm>
          <a:prstGeom prst="roundRect">
            <a:avLst>
              <a:gd name="adj" fmla="val 5556"/>
            </a:avLst>
          </a:prstGeom>
          <a:solidFill>
            <a:srgbClr val="0B1E45"/>
          </a:solidFill>
          <a:ln w="12700">
            <a:solidFill>
              <a:srgbClr val="2A4A80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866775" y="4038600"/>
            <a:ext cx="14287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EA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 A</a:t>
            </a:r>
            <a:endParaRPr lang="en-US" sz="900" dirty="0"/>
          </a:p>
        </p:txBody>
      </p:sp>
      <p:sp>
        <p:nvSpPr>
          <p:cNvPr id="77" name="Text 75"/>
          <p:cNvSpPr txBox="1"/>
          <p:nvPr/>
        </p:nvSpPr>
        <p:spPr>
          <a:xfrm>
            <a:off x="866775" y="4191000"/>
            <a:ext cx="1428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B4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Risk: 62</a:t>
            </a:r>
            <a:endParaRPr lang="en-US" sz="1650" dirty="0"/>
          </a:p>
        </p:txBody>
      </p:sp>
      <p:sp>
        <p:nvSpPr>
          <p:cNvPr id="78" name="Text 76"/>
          <p:cNvSpPr txBox="1"/>
          <p:nvPr/>
        </p:nvSpPr>
        <p:spPr>
          <a:xfrm>
            <a:off x="866775" y="4476750"/>
            <a:ext cx="1428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8" dirty="0">
                <a:solidFill>
                  <a:srgbClr val="8EA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Blood pressure + cholesterol</a:t>
            </a:r>
            <a:endParaRPr lang="en-US" sz="938" dirty="0"/>
          </a:p>
        </p:txBody>
      </p:sp>
      <p:sp>
        <p:nvSpPr>
          <p:cNvPr id="79" name="Shape 77"/>
          <p:cNvSpPr/>
          <p:nvPr/>
        </p:nvSpPr>
        <p:spPr>
          <a:xfrm>
            <a:off x="866775" y="4857750"/>
            <a:ext cx="788432" cy="85725"/>
          </a:xfrm>
          <a:prstGeom prst="rect">
            <a:avLst/>
          </a:prstGeom>
          <a:solidFill>
            <a:srgbClr val="FF5D7A"/>
          </a:solidFill>
          <a:ln/>
        </p:spPr>
      </p:sp>
      <p:sp>
        <p:nvSpPr>
          <p:cNvPr id="80" name="Shape 78"/>
          <p:cNvSpPr/>
          <p:nvPr/>
        </p:nvSpPr>
        <p:spPr>
          <a:xfrm>
            <a:off x="1655207" y="4857750"/>
            <a:ext cx="501729" cy="85725"/>
          </a:xfrm>
          <a:prstGeom prst="rect">
            <a:avLst/>
          </a:prstGeom>
          <a:solidFill>
            <a:srgbClr val="3B82FF"/>
          </a:solidFill>
          <a:ln/>
        </p:spPr>
      </p:sp>
      <p:sp>
        <p:nvSpPr>
          <p:cNvPr id="81" name="Shape 79"/>
          <p:cNvSpPr/>
          <p:nvPr/>
        </p:nvSpPr>
        <p:spPr>
          <a:xfrm>
            <a:off x="2156936" y="4857750"/>
            <a:ext cx="143351" cy="85725"/>
          </a:xfrm>
          <a:prstGeom prst="rect">
            <a:avLst/>
          </a:prstGeom>
          <a:solidFill>
            <a:srgbClr val="3A5C94"/>
          </a:solidFill>
          <a:ln/>
        </p:spPr>
      </p:sp>
      <p:sp>
        <p:nvSpPr>
          <p:cNvPr id="82" name="Shape 80"/>
          <p:cNvSpPr/>
          <p:nvPr/>
        </p:nvSpPr>
        <p:spPr>
          <a:xfrm>
            <a:off x="2462213" y="3981450"/>
            <a:ext cx="1604963" cy="1028700"/>
          </a:xfrm>
          <a:prstGeom prst="roundRect">
            <a:avLst>
              <a:gd name="adj" fmla="val 5556"/>
            </a:avLst>
          </a:prstGeom>
          <a:solidFill>
            <a:srgbClr val="0B1E45"/>
          </a:solidFill>
          <a:ln w="12700">
            <a:solidFill>
              <a:srgbClr val="2A4A80"/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2547938" y="4038600"/>
            <a:ext cx="14287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EA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 B</a:t>
            </a:r>
            <a:endParaRPr lang="en-US" sz="900" dirty="0"/>
          </a:p>
        </p:txBody>
      </p:sp>
      <p:sp>
        <p:nvSpPr>
          <p:cNvPr id="84" name="Text 82"/>
          <p:cNvSpPr txBox="1"/>
          <p:nvPr/>
        </p:nvSpPr>
        <p:spPr>
          <a:xfrm>
            <a:off x="2547938" y="4191000"/>
            <a:ext cx="1428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B4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Risk: 62</a:t>
            </a:r>
            <a:endParaRPr lang="en-US" sz="1650" dirty="0"/>
          </a:p>
        </p:txBody>
      </p:sp>
      <p:sp>
        <p:nvSpPr>
          <p:cNvPr id="85" name="Text 83"/>
          <p:cNvSpPr txBox="1"/>
          <p:nvPr/>
        </p:nvSpPr>
        <p:spPr>
          <a:xfrm>
            <a:off x="2547938" y="4476750"/>
            <a:ext cx="1428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8" dirty="0">
                <a:solidFill>
                  <a:srgbClr val="8EA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BMI + smoking + activity</a:t>
            </a:r>
            <a:endParaRPr lang="en-US" sz="938" dirty="0"/>
          </a:p>
        </p:txBody>
      </p:sp>
      <p:sp>
        <p:nvSpPr>
          <p:cNvPr id="86" name="Shape 84"/>
          <p:cNvSpPr/>
          <p:nvPr/>
        </p:nvSpPr>
        <p:spPr>
          <a:xfrm>
            <a:off x="2547938" y="4857750"/>
            <a:ext cx="501729" cy="85725"/>
          </a:xfrm>
          <a:prstGeom prst="rect">
            <a:avLst/>
          </a:prstGeom>
          <a:solidFill>
            <a:srgbClr val="18E3C8"/>
          </a:solidFill>
          <a:ln/>
        </p:spPr>
      </p:sp>
      <p:sp>
        <p:nvSpPr>
          <p:cNvPr id="87" name="Shape 85"/>
          <p:cNvSpPr/>
          <p:nvPr/>
        </p:nvSpPr>
        <p:spPr>
          <a:xfrm>
            <a:off x="3049667" y="4857750"/>
            <a:ext cx="501729" cy="85725"/>
          </a:xfrm>
          <a:prstGeom prst="rect">
            <a:avLst/>
          </a:prstGeom>
          <a:solidFill>
            <a:srgbClr val="EAF4FF"/>
          </a:solidFill>
          <a:ln/>
        </p:spPr>
      </p:sp>
      <p:sp>
        <p:nvSpPr>
          <p:cNvPr id="88" name="Shape 86"/>
          <p:cNvSpPr/>
          <p:nvPr/>
        </p:nvSpPr>
        <p:spPr>
          <a:xfrm>
            <a:off x="3551396" y="4857750"/>
            <a:ext cx="430054" cy="85725"/>
          </a:xfrm>
          <a:prstGeom prst="rect">
            <a:avLst/>
          </a:prstGeom>
          <a:solidFill>
            <a:srgbClr val="3A5C94"/>
          </a:solidFill>
          <a:ln/>
        </p:spPr>
      </p:sp>
      <p:sp>
        <p:nvSpPr>
          <p:cNvPr id="89" name="Shape 87"/>
          <p:cNvSpPr/>
          <p:nvPr/>
        </p:nvSpPr>
        <p:spPr>
          <a:xfrm>
            <a:off x="781050" y="5124450"/>
            <a:ext cx="3286125" cy="381000"/>
          </a:xfrm>
          <a:prstGeom prst="roundRect">
            <a:avLst>
              <a:gd name="adj" fmla="val 15000"/>
            </a:avLst>
          </a:prstGeom>
          <a:solidFill>
            <a:srgbClr val="3B2030"/>
          </a:solidFill>
          <a:ln w="12700">
            <a:solidFill>
              <a:srgbClr val="7A4458"/>
            </a:solidFill>
            <a:prstDash val="solid"/>
          </a:ln>
        </p:spPr>
      </p:sp>
      <p:sp>
        <p:nvSpPr>
          <p:cNvPr id="90" name="Text 88"/>
          <p:cNvSpPr txBox="1"/>
          <p:nvPr/>
        </p:nvSpPr>
        <p:spPr>
          <a:xfrm>
            <a:off x="781050" y="5124450"/>
            <a:ext cx="32861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FB4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SCORE ≠ SAME RISK PROFILE</a:t>
            </a:r>
            <a:endParaRPr lang="en-US" sz="1125" dirty="0"/>
          </a:p>
        </p:txBody>
      </p:sp>
      <p:sp>
        <p:nvSpPr>
          <p:cNvPr id="91" name="Shape 89"/>
          <p:cNvSpPr/>
          <p:nvPr/>
        </p:nvSpPr>
        <p:spPr>
          <a:xfrm>
            <a:off x="4317968" y="3619500"/>
            <a:ext cx="3555968" cy="2266950"/>
          </a:xfrm>
          <a:prstGeom prst="roundRect">
            <a:avLst>
              <a:gd name="adj" fmla="val 4202"/>
            </a:avLst>
          </a:prstGeom>
          <a:solidFill>
            <a:srgbClr val="0F2550"/>
          </a:solidFill>
          <a:ln w="12700">
            <a:solidFill>
              <a:srgbClr val="2A4A80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4451318" y="3724275"/>
            <a:ext cx="38100" cy="161925"/>
          </a:xfrm>
          <a:prstGeom prst="rect">
            <a:avLst/>
          </a:prstGeom>
          <a:solidFill>
            <a:srgbClr val="18E3C8"/>
          </a:solidFill>
          <a:ln/>
        </p:spPr>
      </p:sp>
      <p:sp>
        <p:nvSpPr>
          <p:cNvPr id="93" name="Text 91"/>
          <p:cNvSpPr txBox="1"/>
          <p:nvPr/>
        </p:nvSpPr>
        <p:spPr>
          <a:xfrm>
            <a:off x="4575143" y="3705225"/>
            <a:ext cx="317496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88" b="1" dirty="0">
                <a:solidFill>
                  <a:srgbClr val="EA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RISK TIME MACHINE</a:t>
            </a:r>
            <a:endParaRPr lang="en-US" sz="1088" dirty="0"/>
          </a:p>
        </p:txBody>
      </p:sp>
      <p:sp>
        <p:nvSpPr>
          <p:cNvPr id="94" name="Text 92"/>
          <p:cNvSpPr txBox="1"/>
          <p:nvPr/>
        </p:nvSpPr>
        <p:spPr>
          <a:xfrm>
            <a:off x="4308443" y="4000500"/>
            <a:ext cx="12382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8" b="1" dirty="0">
                <a:solidFill>
                  <a:srgbClr val="8EA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</a:t>
            </a:r>
            <a:endParaRPr lang="en-US" sz="938" dirty="0"/>
          </a:p>
        </p:txBody>
      </p:sp>
      <p:sp>
        <p:nvSpPr>
          <p:cNvPr id="95" name="Shape 93"/>
          <p:cNvSpPr/>
          <p:nvPr/>
        </p:nvSpPr>
        <p:spPr>
          <a:xfrm>
            <a:off x="4718018" y="4400550"/>
            <a:ext cx="419100" cy="419100"/>
          </a:xfrm>
          <a:prstGeom prst="ellipse">
            <a:avLst/>
          </a:prstGeom>
          <a:solidFill>
            <a:srgbClr val="16407A"/>
          </a:solidFill>
          <a:ln/>
        </p:spPr>
      </p:sp>
      <p:sp>
        <p:nvSpPr>
          <p:cNvPr id="96" name="Text 94"/>
          <p:cNvSpPr txBox="1"/>
          <p:nvPr/>
        </p:nvSpPr>
        <p:spPr>
          <a:xfrm>
            <a:off x="4718018" y="4400550"/>
            <a:ext cx="419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</a:t>
            </a:r>
            <a:endParaRPr lang="en-US" sz="1425" dirty="0"/>
          </a:p>
        </p:txBody>
      </p:sp>
      <p:sp>
        <p:nvSpPr>
          <p:cNvPr id="97" name="Text 95"/>
          <p:cNvSpPr txBox="1"/>
          <p:nvPr/>
        </p:nvSpPr>
        <p:spPr>
          <a:xfrm>
            <a:off x="4356068" y="4895850"/>
            <a:ext cx="1143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8" dirty="0">
                <a:solidFill>
                  <a:srgbClr val="8EA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profile</a:t>
            </a:r>
            <a:endParaRPr lang="en-US" sz="938" dirty="0"/>
          </a:p>
        </p:txBody>
      </p:sp>
      <p:sp>
        <p:nvSpPr>
          <p:cNvPr id="98" name="Text 96"/>
          <p:cNvSpPr txBox="1"/>
          <p:nvPr/>
        </p:nvSpPr>
        <p:spPr>
          <a:xfrm>
            <a:off x="5451443" y="4000500"/>
            <a:ext cx="12382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8" b="1" dirty="0">
                <a:solidFill>
                  <a:srgbClr val="8EA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YEAR</a:t>
            </a:r>
            <a:endParaRPr lang="en-US" sz="938" dirty="0"/>
          </a:p>
        </p:txBody>
      </p:sp>
      <p:sp>
        <p:nvSpPr>
          <p:cNvPr id="99" name="Shape 97"/>
          <p:cNvSpPr/>
          <p:nvPr/>
        </p:nvSpPr>
        <p:spPr>
          <a:xfrm>
            <a:off x="5861018" y="4400550"/>
            <a:ext cx="419100" cy="419100"/>
          </a:xfrm>
          <a:prstGeom prst="ellipse">
            <a:avLst/>
          </a:prstGeom>
          <a:solidFill>
            <a:srgbClr val="3B82FF"/>
          </a:solidFill>
          <a:ln/>
        </p:spPr>
      </p:sp>
      <p:sp>
        <p:nvSpPr>
          <p:cNvPr id="100" name="Text 98"/>
          <p:cNvSpPr txBox="1"/>
          <p:nvPr/>
        </p:nvSpPr>
        <p:spPr>
          <a:xfrm>
            <a:off x="5861018" y="4400550"/>
            <a:ext cx="419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</a:t>
            </a:r>
            <a:endParaRPr lang="en-US" sz="1425" dirty="0"/>
          </a:p>
        </p:txBody>
      </p:sp>
      <p:sp>
        <p:nvSpPr>
          <p:cNvPr id="101" name="Text 99"/>
          <p:cNvSpPr txBox="1"/>
          <p:nvPr/>
        </p:nvSpPr>
        <p:spPr>
          <a:xfrm>
            <a:off x="5499068" y="4895850"/>
            <a:ext cx="1143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8" dirty="0">
                <a:solidFill>
                  <a:srgbClr val="8EA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Modified scenario</a:t>
            </a:r>
            <a:endParaRPr lang="en-US" sz="938" dirty="0"/>
          </a:p>
        </p:txBody>
      </p:sp>
      <p:sp>
        <p:nvSpPr>
          <p:cNvPr id="102" name="Text 100"/>
          <p:cNvSpPr txBox="1"/>
          <p:nvPr/>
        </p:nvSpPr>
        <p:spPr>
          <a:xfrm>
            <a:off x="6575393" y="4000500"/>
            <a:ext cx="12382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8" b="1" dirty="0">
                <a:solidFill>
                  <a:srgbClr val="8EA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YEAR SCENARIO</a:t>
            </a:r>
            <a:endParaRPr lang="en-US" sz="938" dirty="0"/>
          </a:p>
        </p:txBody>
      </p:sp>
      <p:sp>
        <p:nvSpPr>
          <p:cNvPr id="103" name="Shape 101"/>
          <p:cNvSpPr/>
          <p:nvPr/>
        </p:nvSpPr>
        <p:spPr>
          <a:xfrm>
            <a:off x="6984968" y="4400550"/>
            <a:ext cx="419100" cy="419100"/>
          </a:xfrm>
          <a:prstGeom prst="ellipse">
            <a:avLst/>
          </a:prstGeom>
          <a:solidFill>
            <a:srgbClr val="18E3C8"/>
          </a:solidFill>
          <a:ln/>
        </p:spPr>
      </p:sp>
      <p:sp>
        <p:nvSpPr>
          <p:cNvPr id="104" name="Text 102"/>
          <p:cNvSpPr txBox="1"/>
          <p:nvPr/>
        </p:nvSpPr>
        <p:spPr>
          <a:xfrm>
            <a:off x="6984968" y="4400550"/>
            <a:ext cx="419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1425" dirty="0"/>
          </a:p>
        </p:txBody>
      </p:sp>
      <p:sp>
        <p:nvSpPr>
          <p:cNvPr id="105" name="Text 103"/>
          <p:cNvSpPr txBox="1"/>
          <p:nvPr/>
        </p:nvSpPr>
        <p:spPr>
          <a:xfrm>
            <a:off x="6623018" y="4895850"/>
            <a:ext cx="1143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8" dirty="0">
                <a:solidFill>
                  <a:srgbClr val="8EA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Further scenario</a:t>
            </a:r>
            <a:endParaRPr lang="en-US" sz="938" dirty="0"/>
          </a:p>
        </p:txBody>
      </p:sp>
      <p:sp>
        <p:nvSpPr>
          <p:cNvPr id="106" name="Shape 104"/>
          <p:cNvSpPr/>
          <p:nvPr/>
        </p:nvSpPr>
        <p:spPr>
          <a:xfrm>
            <a:off x="5156168" y="4610100"/>
            <a:ext cx="685800" cy="0"/>
          </a:xfrm>
          <a:prstGeom prst="line">
            <a:avLst/>
          </a:prstGeom>
          <a:noFill/>
          <a:ln w="31750">
            <a:solidFill>
              <a:srgbClr val="3B82FF"/>
            </a:solidFill>
            <a:prstDash val="solid"/>
            <a:tailEnd type="triangle"/>
          </a:ln>
        </p:spPr>
      </p:sp>
      <p:sp>
        <p:nvSpPr>
          <p:cNvPr id="107" name="Shape 105"/>
          <p:cNvSpPr/>
          <p:nvPr/>
        </p:nvSpPr>
        <p:spPr>
          <a:xfrm>
            <a:off x="6299168" y="4610100"/>
            <a:ext cx="666750" cy="0"/>
          </a:xfrm>
          <a:prstGeom prst="line">
            <a:avLst/>
          </a:prstGeom>
          <a:noFill/>
          <a:ln w="31750">
            <a:solidFill>
              <a:srgbClr val="3B82FF"/>
            </a:solidFill>
            <a:prstDash val="solid"/>
            <a:tailEnd type="triangle"/>
          </a:ln>
        </p:spPr>
      </p:sp>
      <p:sp>
        <p:nvSpPr>
          <p:cNvPr id="108" name="Shape 106"/>
          <p:cNvSpPr/>
          <p:nvPr/>
        </p:nvSpPr>
        <p:spPr>
          <a:xfrm>
            <a:off x="4451318" y="5391150"/>
            <a:ext cx="85725" cy="85725"/>
          </a:xfrm>
          <a:prstGeom prst="ellipse">
            <a:avLst/>
          </a:prstGeom>
          <a:solidFill>
            <a:srgbClr val="18E3C8"/>
          </a:solidFill>
          <a:ln/>
        </p:spPr>
      </p:sp>
      <p:sp>
        <p:nvSpPr>
          <p:cNvPr id="109" name="Text 107"/>
          <p:cNvSpPr txBox="1"/>
          <p:nvPr/>
        </p:nvSpPr>
        <p:spPr>
          <a:xfrm>
            <a:off x="4603718" y="5295900"/>
            <a:ext cx="3143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8" dirty="0">
                <a:solidFill>
                  <a:srgbClr val="8EA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model-based scenarios, not predictions of future disease</a:t>
            </a:r>
            <a:endParaRPr lang="en-US" sz="938" dirty="0"/>
          </a:p>
        </p:txBody>
      </p:sp>
      <p:sp>
        <p:nvSpPr>
          <p:cNvPr id="110" name="Shape 108"/>
          <p:cNvSpPr/>
          <p:nvPr/>
        </p:nvSpPr>
        <p:spPr>
          <a:xfrm>
            <a:off x="7988237" y="3619500"/>
            <a:ext cx="3555968" cy="2266950"/>
          </a:xfrm>
          <a:prstGeom prst="roundRect">
            <a:avLst>
              <a:gd name="adj" fmla="val 4202"/>
            </a:avLst>
          </a:prstGeom>
          <a:solidFill>
            <a:srgbClr val="0F2550"/>
          </a:solidFill>
          <a:ln w="12700">
            <a:solidFill>
              <a:srgbClr val="2A4A80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8121586" y="3724275"/>
            <a:ext cx="38100" cy="161925"/>
          </a:xfrm>
          <a:prstGeom prst="rect">
            <a:avLst/>
          </a:prstGeom>
          <a:solidFill>
            <a:srgbClr val="18E3C8"/>
          </a:solidFill>
          <a:ln/>
        </p:spPr>
      </p:sp>
      <p:sp>
        <p:nvSpPr>
          <p:cNvPr id="112" name="Text 110"/>
          <p:cNvSpPr txBox="1"/>
          <p:nvPr/>
        </p:nvSpPr>
        <p:spPr>
          <a:xfrm>
            <a:off x="8245412" y="3705225"/>
            <a:ext cx="317496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88" b="1" dirty="0">
                <a:solidFill>
                  <a:srgbClr val="EA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CARDIOINSIGHT CHALLENGE MODE</a:t>
            </a:r>
            <a:endParaRPr lang="en-US" sz="1088" dirty="0"/>
          </a:p>
        </p:txBody>
      </p:sp>
      <p:sp>
        <p:nvSpPr>
          <p:cNvPr id="113" name="Text 111"/>
          <p:cNvSpPr txBox="1"/>
          <p:nvPr/>
        </p:nvSpPr>
        <p:spPr>
          <a:xfrm>
            <a:off x="8121586" y="3943350"/>
            <a:ext cx="32861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88" b="1" dirty="0">
                <a:solidFill>
                  <a:srgbClr val="18E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YOU LOWER THE MODEL SCORE?</a:t>
            </a:r>
            <a:endParaRPr lang="en-US" sz="1088" dirty="0"/>
          </a:p>
        </p:txBody>
      </p:sp>
      <p:sp>
        <p:nvSpPr>
          <p:cNvPr id="114" name="Shape 112"/>
          <p:cNvSpPr/>
          <p:nvPr/>
        </p:nvSpPr>
        <p:spPr>
          <a:xfrm>
            <a:off x="8121586" y="4210050"/>
            <a:ext cx="704850" cy="228600"/>
          </a:xfrm>
          <a:prstGeom prst="roundRect">
            <a:avLst>
              <a:gd name="adj" fmla="val 20833"/>
            </a:avLst>
          </a:prstGeom>
          <a:solidFill>
            <a:srgbClr val="163668"/>
          </a:solidFill>
          <a:ln w="12700">
            <a:solidFill>
              <a:srgbClr val="2A4A80"/>
            </a:solidFill>
            <a:prstDash val="solid"/>
          </a:ln>
        </p:spPr>
      </p:sp>
      <p:sp>
        <p:nvSpPr>
          <p:cNvPr id="115" name="Text 113"/>
          <p:cNvSpPr txBox="1"/>
          <p:nvPr/>
        </p:nvSpPr>
        <p:spPr>
          <a:xfrm>
            <a:off x="8121586" y="4210050"/>
            <a:ext cx="704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EA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BP: 150</a:t>
            </a:r>
            <a:endParaRPr lang="en-US" sz="975" dirty="0"/>
          </a:p>
        </p:txBody>
      </p:sp>
      <p:sp>
        <p:nvSpPr>
          <p:cNvPr id="116" name="Shape 114"/>
          <p:cNvSpPr/>
          <p:nvPr/>
        </p:nvSpPr>
        <p:spPr>
          <a:xfrm>
            <a:off x="8902637" y="4210050"/>
            <a:ext cx="1219200" cy="228600"/>
          </a:xfrm>
          <a:prstGeom prst="roundRect">
            <a:avLst>
              <a:gd name="adj" fmla="val 20833"/>
            </a:avLst>
          </a:prstGeom>
          <a:solidFill>
            <a:srgbClr val="163668"/>
          </a:solidFill>
          <a:ln w="12700">
            <a:solidFill>
              <a:srgbClr val="2A4A80"/>
            </a:solidFill>
            <a:prstDash val="solid"/>
          </a:ln>
        </p:spPr>
      </p:sp>
      <p:sp>
        <p:nvSpPr>
          <p:cNvPr id="117" name="Text 115"/>
          <p:cNvSpPr txBox="1"/>
          <p:nvPr/>
        </p:nvSpPr>
        <p:spPr>
          <a:xfrm>
            <a:off x="8902637" y="4210050"/>
            <a:ext cx="121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EA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Cholesterol: 240</a:t>
            </a:r>
            <a:endParaRPr lang="en-US" sz="975" dirty="0"/>
          </a:p>
        </p:txBody>
      </p:sp>
      <p:sp>
        <p:nvSpPr>
          <p:cNvPr id="118" name="Shape 116"/>
          <p:cNvSpPr/>
          <p:nvPr/>
        </p:nvSpPr>
        <p:spPr>
          <a:xfrm>
            <a:off x="8121586" y="4495800"/>
            <a:ext cx="666750" cy="228600"/>
          </a:xfrm>
          <a:prstGeom prst="roundRect">
            <a:avLst>
              <a:gd name="adj" fmla="val 20833"/>
            </a:avLst>
          </a:prstGeom>
          <a:solidFill>
            <a:srgbClr val="163668"/>
          </a:solidFill>
          <a:ln w="12700">
            <a:solidFill>
              <a:srgbClr val="2A4A80"/>
            </a:solidFill>
            <a:prstDash val="solid"/>
          </a:ln>
        </p:spPr>
      </p:sp>
      <p:sp>
        <p:nvSpPr>
          <p:cNvPr id="119" name="Text 117"/>
          <p:cNvSpPr txBox="1"/>
          <p:nvPr/>
        </p:nvSpPr>
        <p:spPr>
          <a:xfrm>
            <a:off x="8121586" y="4495800"/>
            <a:ext cx="666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EA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BMI: 29</a:t>
            </a:r>
            <a:endParaRPr lang="en-US" sz="975" dirty="0"/>
          </a:p>
        </p:txBody>
      </p:sp>
      <p:sp>
        <p:nvSpPr>
          <p:cNvPr id="120" name="Shape 118"/>
          <p:cNvSpPr/>
          <p:nvPr/>
        </p:nvSpPr>
        <p:spPr>
          <a:xfrm>
            <a:off x="8864537" y="4495800"/>
            <a:ext cx="1009650" cy="228600"/>
          </a:xfrm>
          <a:prstGeom prst="roundRect">
            <a:avLst>
              <a:gd name="adj" fmla="val 20833"/>
            </a:avLst>
          </a:prstGeom>
          <a:solidFill>
            <a:srgbClr val="163668"/>
          </a:solidFill>
          <a:ln w="12700">
            <a:solidFill>
              <a:srgbClr val="2A4A80"/>
            </a:solidFill>
            <a:prstDash val="solid"/>
          </a:ln>
        </p:spPr>
      </p:sp>
      <p:sp>
        <p:nvSpPr>
          <p:cNvPr id="121" name="Text 119"/>
          <p:cNvSpPr txBox="1"/>
          <p:nvPr/>
        </p:nvSpPr>
        <p:spPr>
          <a:xfrm>
            <a:off x="8864537" y="4495800"/>
            <a:ext cx="1009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EA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Smoking: Yes</a:t>
            </a:r>
            <a:endParaRPr lang="en-US" sz="975" dirty="0"/>
          </a:p>
        </p:txBody>
      </p:sp>
      <p:sp>
        <p:nvSpPr>
          <p:cNvPr id="122" name="Shape 120"/>
          <p:cNvSpPr/>
          <p:nvPr/>
        </p:nvSpPr>
        <p:spPr>
          <a:xfrm>
            <a:off x="8121586" y="4819650"/>
            <a:ext cx="1314450" cy="609600"/>
          </a:xfrm>
          <a:prstGeom prst="roundRect">
            <a:avLst>
              <a:gd name="adj" fmla="val 12500"/>
            </a:avLst>
          </a:prstGeom>
          <a:solidFill>
            <a:srgbClr val="3B2030"/>
          </a:solidFill>
          <a:ln w="12700">
            <a:solidFill>
              <a:srgbClr val="7A4458"/>
            </a:solidFill>
            <a:prstDash val="solid"/>
          </a:ln>
        </p:spPr>
      </p:sp>
      <p:sp>
        <p:nvSpPr>
          <p:cNvPr id="123" name="Text 121"/>
          <p:cNvSpPr txBox="1"/>
          <p:nvPr/>
        </p:nvSpPr>
        <p:spPr>
          <a:xfrm>
            <a:off x="8216837" y="4857750"/>
            <a:ext cx="1143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8EA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</a:t>
            </a:r>
            <a:endParaRPr lang="en-US" sz="863" dirty="0"/>
          </a:p>
        </p:txBody>
      </p:sp>
      <p:sp>
        <p:nvSpPr>
          <p:cNvPr id="124" name="Text 122"/>
          <p:cNvSpPr txBox="1"/>
          <p:nvPr/>
        </p:nvSpPr>
        <p:spPr>
          <a:xfrm>
            <a:off x="8216837" y="5029200"/>
            <a:ext cx="11811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B4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</a:t>
            </a:r>
            <a:pPr algn="l" indent="0" marL="0">
              <a:buNone/>
            </a:pPr>
            <a:r>
              <a:rPr lang="en-US" sz="1088" b="1" dirty="0">
                <a:solidFill>
                  <a:srgbClr val="FFB4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Elevated</a:t>
            </a:r>
            <a:endParaRPr lang="en-US" sz="1200" dirty="0"/>
          </a:p>
        </p:txBody>
      </p:sp>
      <p:sp>
        <p:nvSpPr>
          <p:cNvPr id="125" name="Text 123"/>
          <p:cNvSpPr txBox="1"/>
          <p:nvPr/>
        </p:nvSpPr>
        <p:spPr>
          <a:xfrm>
            <a:off x="9436037" y="4819650"/>
            <a:ext cx="304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8E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50" dirty="0"/>
          </a:p>
        </p:txBody>
      </p:sp>
      <p:sp>
        <p:nvSpPr>
          <p:cNvPr id="126" name="Shape 124"/>
          <p:cNvSpPr/>
          <p:nvPr/>
        </p:nvSpPr>
        <p:spPr>
          <a:xfrm>
            <a:off x="9740837" y="4819650"/>
            <a:ext cx="1666875" cy="609600"/>
          </a:xfrm>
          <a:prstGeom prst="roundRect">
            <a:avLst>
              <a:gd name="adj" fmla="val 12500"/>
            </a:avLst>
          </a:prstGeom>
          <a:solidFill>
            <a:srgbClr val="14305F"/>
          </a:solidFill>
          <a:ln w="12700">
            <a:solidFill>
              <a:srgbClr val="2F5A9A"/>
            </a:solidFill>
            <a:prstDash val="solid"/>
          </a:ln>
        </p:spPr>
      </p:sp>
      <p:sp>
        <p:nvSpPr>
          <p:cNvPr id="127" name="Text 125"/>
          <p:cNvSpPr txBox="1"/>
          <p:nvPr/>
        </p:nvSpPr>
        <p:spPr>
          <a:xfrm>
            <a:off x="9836087" y="4857750"/>
            <a:ext cx="1524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8EA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MODIFIED SCENARIO</a:t>
            </a:r>
            <a:endParaRPr lang="en-US" sz="863" dirty="0"/>
          </a:p>
        </p:txBody>
      </p:sp>
      <p:sp>
        <p:nvSpPr>
          <p:cNvPr id="128" name="Text 126"/>
          <p:cNvSpPr txBox="1"/>
          <p:nvPr/>
        </p:nvSpPr>
        <p:spPr>
          <a:xfrm>
            <a:off x="9836087" y="5029200"/>
            <a:ext cx="1524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7FB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</a:t>
            </a:r>
            <a:pPr algn="l" indent="0" marL="0">
              <a:buNone/>
            </a:pPr>
            <a:r>
              <a:rPr lang="en-US" sz="1088" b="1" dirty="0">
                <a:solidFill>
                  <a:srgbClr val="7FB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Moderate</a:t>
            </a:r>
            <a:endParaRPr lang="en-US" sz="1200" dirty="0"/>
          </a:p>
        </p:txBody>
      </p:sp>
      <p:sp>
        <p:nvSpPr>
          <p:cNvPr id="129" name="Text 127"/>
          <p:cNvSpPr txBox="1"/>
          <p:nvPr/>
        </p:nvSpPr>
        <p:spPr>
          <a:xfrm>
            <a:off x="8121586" y="5486400"/>
            <a:ext cx="328612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8" dirty="0">
                <a:solidFill>
                  <a:srgbClr val="8EA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scenario demonstration · model simulation, not a clinical guarantee</a:t>
            </a:r>
            <a:endParaRPr lang="en-US" sz="938" dirty="0"/>
          </a:p>
        </p:txBody>
      </p:sp>
      <p:sp>
        <p:nvSpPr>
          <p:cNvPr id="130" name="Shape 128"/>
          <p:cNvSpPr/>
          <p:nvPr/>
        </p:nvSpPr>
        <p:spPr>
          <a:xfrm>
            <a:off x="3238500" y="6191250"/>
            <a:ext cx="5715000" cy="361950"/>
          </a:xfrm>
          <a:prstGeom prst="roundRect">
            <a:avLst>
              <a:gd name="adj" fmla="val 50000"/>
            </a:avLst>
          </a:prstGeom>
          <a:solidFill>
            <a:srgbClr val="0E2A5C"/>
          </a:solidFill>
          <a:ln w="19050">
            <a:solidFill>
              <a:srgbClr val="18E3C8"/>
            </a:solidFill>
            <a:prstDash val="solid"/>
          </a:ln>
        </p:spPr>
      </p:sp>
      <p:sp>
        <p:nvSpPr>
          <p:cNvPr id="131" name="Text 129"/>
          <p:cNvSpPr txBox="1"/>
          <p:nvPr/>
        </p:nvSpPr>
        <p:spPr>
          <a:xfrm>
            <a:off x="3238500" y="6191250"/>
            <a:ext cx="5715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 </a:t>
            </a:r>
            <a:pPr algn="ctr" indent="0" marL="0">
              <a:buNone/>
            </a:pPr>
            <a:r>
              <a:rPr lang="en-US" sz="1275" b="1" dirty="0">
                <a:solidFill>
                  <a:srgbClr val="6EE3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pPr algn="ctr" indent="0" marL="0">
              <a:buNone/>
            </a:pPr>
            <a:r>
              <a:rPr lang="en-US" sz="12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EXPLAIN </a:t>
            </a:r>
            <a:pPr algn="ctr" indent="0" marL="0">
              <a:buNone/>
            </a:pPr>
            <a:r>
              <a:rPr lang="en-US" sz="1275" b="1" dirty="0">
                <a:solidFill>
                  <a:srgbClr val="6EE3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pPr algn="ctr" indent="0" marL="0">
              <a:buNone/>
            </a:pPr>
            <a:r>
              <a:rPr lang="en-US" sz="12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SIMULATE </a:t>
            </a:r>
            <a:pPr algn="ctr" indent="0" marL="0">
              <a:buNone/>
            </a:pPr>
            <a:r>
              <a:rPr lang="en-US" sz="1275" b="1" dirty="0">
                <a:solidFill>
                  <a:srgbClr val="6EE3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pPr algn="ctr" indent="0" marL="0">
              <a:buNone/>
            </a:pPr>
            <a:r>
              <a:rPr lang="en-US" sz="12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UNDERSTAND</a:t>
            </a:r>
            <a:endParaRPr lang="en-US" sz="12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CardioInsight</dc:title>
  <dc:subject>PptxGenJS Presentation</dc:subject>
  <dc:creator>Anjali Jayakumar</dc:creator>
  <cp:lastModifiedBy>Anjali Jayakumar</cp:lastModifiedBy>
  <cp:revision>1</cp:revision>
  <dcterms:created xsi:type="dcterms:W3CDTF">2026-10-08T05:27:16Z</dcterms:created>
  <dcterms:modified xsi:type="dcterms:W3CDTF">2026-10-08T05:27:16Z</dcterms:modified>
</cp:coreProperties>
</file>