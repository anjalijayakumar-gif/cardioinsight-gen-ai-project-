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rdioInsight" id="{c900c821-f84c-f6b7-7b56-62679241682f}">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Introduce CardioInsight: an educational prototype that turns cardiovascular health data into understandable insight. The idea in one line: a risk score alone does not tell the whole story. It is not a diagnostic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The problem: most tools give a single number. CardioInsight gives the story behind it in four steps: predict a model score, explain which factors drive it, simulate hypothetical changes, and help the user understand. All wording is 'model-estimated risk', never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Walk the flow. The assessment is a five-step wizard so it never feels like one giant form, with live BMI and validation that catches missing, impossible and unusual values. The results page shows an animated gauge, with category shown by icon and text, not colour alone, then contributing factors and the fingerprint radar. Users can download a printable report and start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These are the signature features. Same Score is Not Same Story is the memorable one: two fictional profiles both score 62, yet one is driven by blood pressure and cholesterol and the other by lifestyle and BMI. The Time Machine and Challenge are clearly labelled illustrative scenarios, not forecasts. Everything fictional is marked Demo Profile,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Beyond the score, the product helps people learn and act. Seven short topics in plain language, an interactive anatomical heart, tips based on what the user entered, goals with progress, a myth versus fact quiz and the CardioCare AI assistant. The assistant is rule-based today with its logic in one swappable function, and it declines to diagnose. Also: site-wide search, back button, breadcrumbs, occasional wellbeing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~50s. Be transparent: this is a Data Science project, so the pipeline is shown end to end. Today the numbers come from a clearly labelled demonstration formula. We never invent accuracy, precision, recall or F1. The Evaluation box says results appear after training. The frontend talks to one model service, so the real scikit-learn model can replace the demo with a single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Summarise: the product is built, usable and honest. Next steps are about the real model and responsible validation. Share the live link and ask for feedback or approval for the model-training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932688"/>
            <a:ext cx="822960" cy="45720"/>
          </a:xfrm>
          <a:prstGeom prst="rect">
            <a:avLst/>
          </a:prstGeom>
          <a:solidFill>
            <a:schemeClr val="accent1"/>
          </a:solidFill>
          <a:ln/>
        </p:spPr>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4" name="Text 1"/>
          <p:cNvSpPr txBox="1"/>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chemeClr val="accent3"/>
                </a:solidFill>
              </a:rPr>
              <a:t>CardioInsight · Educational/research prototype, not a diagnostic tool</a:t>
            </a:r>
            <a:endParaRPr lang="en-US" sz="8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457200" y="932688"/>
            <a:ext cx="822960" cy="45720"/>
          </a:xfrm>
          <a:prstGeom prst="rect">
            <a:avLst/>
          </a:prstGeom>
          <a:solidFill>
            <a:schemeClr val="accent2"/>
          </a:solidFill>
          <a:ln/>
        </p:spPr>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2400" b="1" dirty="0">
                <a:solidFill>
                  <a:schemeClr val="bg1"/>
                </a:solidFill>
              </a:defRPr>
            </a:lvl1pPr>
          </a:lstStyle>
          <a:p>
            <a:pPr algn="l" indent="0" marL="0">
              <a:buNone/>
            </a:pPr>
            <a:endParaRPr lang="en-US" sz="2400" dirty="0"/>
          </a:p>
        </p:txBody>
      </p:sp>
      <p:sp>
        <p:nvSpPr>
          <p:cNvPr id="4" name="Text 1"/>
          <p:cNvSpPr txBox="1"/>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chemeClr val="accent3"/>
                </a:solidFill>
              </a:rPr>
              <a:t>CardioInsight · Educational/research prototype, not a diagnostic tool</a:t>
            </a:r>
            <a:endParaRPr lang="en-US" sz="8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B1730"/>
        </a:solidFill>
      </p:bgPr>
    </p:bg>
    <p:spTree>
      <p:nvGrpSpPr>
        <p:cNvPr id="1" name=""/>
        <p:cNvGrpSpPr/>
        <p:nvPr/>
      </p:nvGrpSpPr>
      <p:grpSpPr>
        <a:xfrm>
          <a:off x="0" y="0"/>
          <a:ext cx="0" cy="0"/>
          <a:chOff x="0" y="0"/>
          <a:chExt cx="0" cy="0"/>
        </a:xfrm>
      </p:grpSpPr>
      <p:sp>
        <p:nvSpPr>
          <p:cNvPr id="2" name="Shape 0"/>
          <p:cNvSpPr/>
          <p:nvPr/>
        </p:nvSpPr>
        <p:spPr>
          <a:xfrm>
            <a:off x="640080" y="1234440"/>
            <a:ext cx="1097280" cy="54864"/>
          </a:xfrm>
          <a:prstGeom prst="rect">
            <a:avLst/>
          </a:prstGeom>
          <a:solidFill>
            <a:schemeClr val="accent2"/>
          </a:solidFill>
          <a:ln/>
        </p:spPr>
      </p:sp>
      <p:sp>
        <p:nvSpPr>
          <p:cNvPr id="3" name="Text 1"/>
          <p:cNvSpPr/>
          <p:nvPr>
            <p:ph idx="101" type="title" hasCustomPrompt="1"/>
          </p:nvPr>
        </p:nvSpPr>
        <p:spPr>
          <a:xfrm>
            <a:off x="640080" y="1371600"/>
            <a:ext cx="78638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1"/>
          <p:cNvSpPr/>
          <p:nvPr>
            <p:ph idx="102" type="body" hasCustomPrompt="1"/>
          </p:nvPr>
        </p:nvSpPr>
        <p:spPr>
          <a:xfrm>
            <a:off x="640080" y="2651760"/>
            <a:ext cx="7863840" cy="822960"/>
          </a:xfrm>
          <a:prstGeom prst="rect">
            <a:avLst/>
          </a:prstGeom>
          <a:noFill/>
          <a:ln/>
        </p:spPr>
        <p:txBody>
          <a:bodyPr wrap="square" rtlCol="0"/>
          <a:lstStyle>
            <a:lvl1pPr algn="l" indent="0" marL="0">
              <a:buNone/>
              <a:defRPr lang="en-US" sz="1600" dirty="0">
                <a:solidFill>
                  <a:schemeClr val="accent3"/>
                </a:solidFill>
              </a:defRPr>
            </a:lvl1pPr>
          </a:lstStyle>
          <a:p>
            <a:pPr algn="l" indent="0" marL="0">
              <a:buNone/>
            </a:pPr>
            <a:endParaRPr lang="en-US" sz="1600" dirty="0"/>
          </a:p>
        </p:txBody>
      </p:sp>
      <p:sp>
        <p:nvSpPr>
          <p:cNvPr id="5" name="Text 1"/>
          <p:cNvSpPr txBox="1"/>
          <p:nvPr/>
        </p:nvSpPr>
        <p:spPr>
          <a:xfrm>
            <a:off x="457200" y="4800600"/>
            <a:ext cx="6400800" cy="228600"/>
          </a:xfrm>
          <a:prstGeom prst="rect">
            <a:avLst/>
          </a:prstGeom>
          <a:noFill/>
          <a:ln/>
        </p:spPr>
        <p:txBody>
          <a:bodyPr wrap="square" lIns="0" tIns="0" rIns="0" bIns="0" rtlCol="0" anchor="ctr"/>
          <a:lstStyle/>
          <a:p>
            <a:pPr indent="0" marL="0">
              <a:buNone/>
            </a:pPr>
            <a:r>
              <a:rPr lang="en-US" sz="800" dirty="0">
                <a:solidFill>
                  <a:schemeClr val="accent3"/>
                </a:solidFill>
              </a:rPr>
              <a:t>CardioInsight · Educational/research prototype, not a diagnostic tool</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ph idx="101" type="title" hasCustomPrompt="1"/>
          </p:nvPr>
        </p:nvSpPr>
        <p:spPr>
          <a:xfrm>
            <a:off x="640080" y="1371600"/>
            <a:ext cx="7863840" cy="1188720"/>
          </a:xfrm>
          <a:prstGeom prst="rect">
            <a:avLst/>
          </a:prstGeom>
          <a:noFill/>
          <a:ln/>
        </p:spPr>
        <p:txBody>
          <a:bodyPr wrap="square" lIns="0" tIns="0" rIns="0" bIns="0" rtlCol="0" anchor="t"/>
          <a:lstStyle/>
          <a:p>
            <a:pPr algn="l" indent="0" marL="0">
              <a:buNone/>
            </a:pPr>
            <a:r>
              <a:rPr lang="en-US" sz="3800" b="1" dirty="0">
                <a:solidFill>
                  <a:schemeClr val="bg1"/>
                </a:solidFill>
              </a:rPr>
              <a:t>CardioInsight</a:t>
            </a:r>
            <a:endParaRPr lang="en-US" sz="3800" dirty="0"/>
          </a:p>
        </p:txBody>
      </p:sp>
      <p:sp>
        <p:nvSpPr>
          <p:cNvPr id="4" name="Text 1"/>
          <p:cNvSpPr/>
          <p:nvPr>
            <p:ph idx="102" type="body" hasCustomPrompt="1"/>
          </p:nvPr>
        </p:nvSpPr>
        <p:spPr>
          <a:xfrm>
            <a:off x="640080" y="2651760"/>
            <a:ext cx="7863840" cy="822960"/>
          </a:xfrm>
          <a:prstGeom prst="rect">
            <a:avLst/>
          </a:prstGeom>
          <a:noFill/>
          <a:ln/>
        </p:spPr>
        <p:txBody>
          <a:bodyPr wrap="square" lIns="0" tIns="0" rIns="0" bIns="0" rtlCol="0" anchor="t"/>
          <a:lstStyle/>
          <a:p>
            <a:pPr algn="l" indent="0" marL="0">
              <a:buNone/>
            </a:pPr>
            <a:r>
              <a:rPr lang="en-US" sz="1600" dirty="0">
                <a:solidFill>
                  <a:schemeClr val="accent3"/>
                </a:solidFill>
              </a:rPr>
              <a:t>A Data-Driven Cardiovascular Risk Prediction System</a:t>
            </a:r>
            <a:endParaRPr lang="en-US" sz="1600" dirty="0"/>
          </a:p>
          <a:p>
            <a:pPr algn="l" indent="0" marL="0">
              <a:buNone/>
            </a:pPr>
            <a:r>
              <a:rPr lang="en-US" sz="1600" dirty="0">
                <a:solidFill>
                  <a:schemeClr val="accent3"/>
                </a:solidFill>
              </a:rPr>
              <a:t>Predict → Explain → Simulate → Understand</a:t>
            </a:r>
            <a:endParaRPr lang="en-US" sz="1600" dirty="0"/>
          </a:p>
        </p:txBody>
      </p:sp>
      <p:sp>
        <p:nvSpPr>
          <p:cNvPr id="5" name="Text 2"/>
          <p:cNvSpPr txBox="1"/>
          <p:nvPr/>
        </p:nvSpPr>
        <p:spPr>
          <a:xfrm>
            <a:off x="640080" y="3931920"/>
            <a:ext cx="7863840" cy="274320"/>
          </a:xfrm>
          <a:prstGeom prst="rect">
            <a:avLst/>
          </a:prstGeom>
          <a:noFill/>
          <a:ln/>
        </p:spPr>
        <p:txBody>
          <a:bodyPr wrap="square" lIns="0" tIns="0" rIns="0" bIns="0" rtlCol="0" anchor="ctr"/>
          <a:lstStyle/>
          <a:p>
            <a:pPr indent="0" marL="0">
              <a:buNone/>
            </a:pPr>
            <a:r>
              <a:rPr lang="en-US" sz="1100" dirty="0">
                <a:solidFill>
                  <a:schemeClr val="accent2"/>
                </a:solidFill>
              </a:rPr>
              <a:t>Biomedical Engineering + Data Science · IBM Generative AI / Data Science workshop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 risk score alone doesn't tell the whole story</a:t>
            </a:r>
            <a:endParaRPr lang="en-US" sz="2400" dirty="0"/>
          </a:p>
        </p:txBody>
      </p:sp>
      <p:sp>
        <p:nvSpPr>
          <p:cNvPr id="4" name="Step 1 card"/>
          <p:cNvSpPr/>
          <p:nvPr/>
        </p:nvSpPr>
        <p:spPr>
          <a:xfrm>
            <a:off x="457200" y="1280160"/>
            <a:ext cx="1920240" cy="1920240"/>
          </a:xfrm>
          <a:prstGeom prst="rect">
            <a:avLst/>
          </a:prstGeom>
          <a:solidFill>
            <a:schemeClr val="bg1"/>
          </a:solidFill>
          <a:ln w="9525">
            <a:solidFill>
              <a:schemeClr val="accent3"/>
            </a:solidFill>
            <a:prstDash val="solid"/>
          </a:ln>
        </p:spPr>
      </p:sp>
      <p:sp>
        <p:nvSpPr>
          <p:cNvPr id="5" name="Step 1 accent"/>
          <p:cNvSpPr/>
          <p:nvPr/>
        </p:nvSpPr>
        <p:spPr>
          <a:xfrm>
            <a:off x="457200" y="1280160"/>
            <a:ext cx="64008" cy="1920240"/>
          </a:xfrm>
          <a:prstGeom prst="rect">
            <a:avLst/>
          </a:prstGeom>
          <a:solidFill>
            <a:schemeClr val="accent1"/>
          </a:solidFill>
          <a:ln w="12700">
            <a:solidFill>
              <a:schemeClr val="accent1"/>
            </a:solidFill>
            <a:prstDash val="solid"/>
          </a:ln>
        </p:spPr>
      </p:sp>
      <p:sp>
        <p:nvSpPr>
          <p:cNvPr id="6" name="Step 1 heading"/>
          <p:cNvSpPr txBox="1"/>
          <p:nvPr/>
        </p:nvSpPr>
        <p:spPr>
          <a:xfrm>
            <a:off x="640080" y="1353312"/>
            <a:ext cx="1645920" cy="292608"/>
          </a:xfrm>
          <a:prstGeom prst="rect">
            <a:avLst/>
          </a:prstGeom>
          <a:noFill/>
          <a:ln/>
        </p:spPr>
        <p:txBody>
          <a:bodyPr wrap="square" lIns="0" tIns="0" rIns="0" bIns="0" rtlCol="0" anchor="ctr"/>
          <a:lstStyle/>
          <a:p>
            <a:pPr indent="0" marL="0">
              <a:buNone/>
            </a:pPr>
            <a:r>
              <a:rPr lang="en-US" sz="1300" b="1" dirty="0">
                <a:solidFill>
                  <a:schemeClr val="tx1"/>
                </a:solidFill>
              </a:rPr>
              <a:t>PREDICT</a:t>
            </a:r>
            <a:endParaRPr lang="en-US" sz="1300" dirty="0"/>
          </a:p>
        </p:txBody>
      </p:sp>
      <p:sp>
        <p:nvSpPr>
          <p:cNvPr id="7" name="Step 1 body"/>
          <p:cNvSpPr txBox="1"/>
          <p:nvPr/>
        </p:nvSpPr>
        <p:spPr>
          <a:xfrm>
            <a:off x="640080" y="1664208"/>
            <a:ext cx="164592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Model-estimated risk score (0–100) from entered health data</a:t>
            </a:r>
            <a:endParaRPr lang="en-US" sz="1050" dirty="0"/>
          </a:p>
        </p:txBody>
      </p:sp>
      <p:sp>
        <p:nvSpPr>
          <p:cNvPr id="8" name="Step 2 card"/>
          <p:cNvSpPr/>
          <p:nvPr/>
        </p:nvSpPr>
        <p:spPr>
          <a:xfrm>
            <a:off x="2542032" y="1280160"/>
            <a:ext cx="1920240" cy="1920240"/>
          </a:xfrm>
          <a:prstGeom prst="rect">
            <a:avLst/>
          </a:prstGeom>
          <a:solidFill>
            <a:schemeClr val="bg1"/>
          </a:solidFill>
          <a:ln w="9525">
            <a:solidFill>
              <a:schemeClr val="accent3"/>
            </a:solidFill>
            <a:prstDash val="solid"/>
          </a:ln>
        </p:spPr>
      </p:sp>
      <p:sp>
        <p:nvSpPr>
          <p:cNvPr id="9" name="Step 2 accent"/>
          <p:cNvSpPr/>
          <p:nvPr/>
        </p:nvSpPr>
        <p:spPr>
          <a:xfrm>
            <a:off x="2542032" y="1280160"/>
            <a:ext cx="64008" cy="1920240"/>
          </a:xfrm>
          <a:prstGeom prst="rect">
            <a:avLst/>
          </a:prstGeom>
          <a:solidFill>
            <a:schemeClr val="accent2"/>
          </a:solidFill>
          <a:ln w="12700">
            <a:solidFill>
              <a:schemeClr val="accent2"/>
            </a:solidFill>
            <a:prstDash val="solid"/>
          </a:ln>
        </p:spPr>
      </p:sp>
      <p:sp>
        <p:nvSpPr>
          <p:cNvPr id="10" name="Step 2 heading"/>
          <p:cNvSpPr txBox="1"/>
          <p:nvPr/>
        </p:nvSpPr>
        <p:spPr>
          <a:xfrm>
            <a:off x="2724912" y="1353312"/>
            <a:ext cx="1645920" cy="292608"/>
          </a:xfrm>
          <a:prstGeom prst="rect">
            <a:avLst/>
          </a:prstGeom>
          <a:noFill/>
          <a:ln/>
        </p:spPr>
        <p:txBody>
          <a:bodyPr wrap="square" lIns="0" tIns="0" rIns="0" bIns="0" rtlCol="0" anchor="ctr"/>
          <a:lstStyle/>
          <a:p>
            <a:pPr indent="0" marL="0">
              <a:buNone/>
            </a:pPr>
            <a:r>
              <a:rPr lang="en-US" sz="1300" b="1" dirty="0">
                <a:solidFill>
                  <a:schemeClr val="tx1"/>
                </a:solidFill>
              </a:rPr>
              <a:t>EXPLAIN</a:t>
            </a:r>
            <a:endParaRPr lang="en-US" sz="1300" dirty="0"/>
          </a:p>
        </p:txBody>
      </p:sp>
      <p:sp>
        <p:nvSpPr>
          <p:cNvPr id="11" name="Step 2 body"/>
          <p:cNvSpPr txBox="1"/>
          <p:nvPr/>
        </p:nvSpPr>
        <p:spPr>
          <a:xfrm>
            <a:off x="2724912" y="1664208"/>
            <a:ext cx="164592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Contributing factors, “Why this score?” and a five-dimension fingerprint</a:t>
            </a:r>
            <a:endParaRPr lang="en-US" sz="1050" dirty="0"/>
          </a:p>
        </p:txBody>
      </p:sp>
      <p:sp>
        <p:nvSpPr>
          <p:cNvPr id="12" name="Step 3 card"/>
          <p:cNvSpPr/>
          <p:nvPr/>
        </p:nvSpPr>
        <p:spPr>
          <a:xfrm>
            <a:off x="4626864" y="1280160"/>
            <a:ext cx="1920240" cy="1920240"/>
          </a:xfrm>
          <a:prstGeom prst="rect">
            <a:avLst/>
          </a:prstGeom>
          <a:solidFill>
            <a:schemeClr val="bg1"/>
          </a:solidFill>
          <a:ln w="9525">
            <a:solidFill>
              <a:schemeClr val="accent3"/>
            </a:solidFill>
            <a:prstDash val="solid"/>
          </a:ln>
        </p:spPr>
      </p:sp>
      <p:sp>
        <p:nvSpPr>
          <p:cNvPr id="13" name="Step 3 accent"/>
          <p:cNvSpPr/>
          <p:nvPr/>
        </p:nvSpPr>
        <p:spPr>
          <a:xfrm>
            <a:off x="4626864" y="1280160"/>
            <a:ext cx="64008" cy="1920240"/>
          </a:xfrm>
          <a:prstGeom prst="rect">
            <a:avLst/>
          </a:prstGeom>
          <a:solidFill>
            <a:schemeClr val="accent4"/>
          </a:solidFill>
          <a:ln w="12700">
            <a:solidFill>
              <a:schemeClr val="accent4"/>
            </a:solidFill>
            <a:prstDash val="solid"/>
          </a:ln>
        </p:spPr>
      </p:sp>
      <p:sp>
        <p:nvSpPr>
          <p:cNvPr id="14" name="Step 3 heading"/>
          <p:cNvSpPr txBox="1"/>
          <p:nvPr/>
        </p:nvSpPr>
        <p:spPr>
          <a:xfrm>
            <a:off x="4809744" y="1353312"/>
            <a:ext cx="1645920" cy="292608"/>
          </a:xfrm>
          <a:prstGeom prst="rect">
            <a:avLst/>
          </a:prstGeom>
          <a:noFill/>
          <a:ln/>
        </p:spPr>
        <p:txBody>
          <a:bodyPr wrap="square" lIns="0" tIns="0" rIns="0" bIns="0" rtlCol="0" anchor="ctr"/>
          <a:lstStyle/>
          <a:p>
            <a:pPr indent="0" marL="0">
              <a:buNone/>
            </a:pPr>
            <a:r>
              <a:rPr lang="en-US" sz="1300" b="1" dirty="0">
                <a:solidFill>
                  <a:schemeClr val="tx1"/>
                </a:solidFill>
              </a:rPr>
              <a:t>SIMULATE</a:t>
            </a:r>
            <a:endParaRPr lang="en-US" sz="1300" dirty="0"/>
          </a:p>
        </p:txBody>
      </p:sp>
      <p:sp>
        <p:nvSpPr>
          <p:cNvPr id="15" name="Step 3 body"/>
          <p:cNvSpPr txBox="1"/>
          <p:nvPr/>
        </p:nvSpPr>
        <p:spPr>
          <a:xfrm>
            <a:off x="4809744" y="1664208"/>
            <a:ext cx="164592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What-If, Risk Time Machine, Same Score ≠ Same Story, Challenge</a:t>
            </a:r>
            <a:endParaRPr lang="en-US" sz="1050" dirty="0"/>
          </a:p>
        </p:txBody>
      </p:sp>
      <p:sp>
        <p:nvSpPr>
          <p:cNvPr id="16" name="Step 4 card"/>
          <p:cNvSpPr/>
          <p:nvPr/>
        </p:nvSpPr>
        <p:spPr>
          <a:xfrm>
            <a:off x="6711696" y="1280160"/>
            <a:ext cx="1920240" cy="1920240"/>
          </a:xfrm>
          <a:prstGeom prst="rect">
            <a:avLst/>
          </a:prstGeom>
          <a:solidFill>
            <a:schemeClr val="bg1"/>
          </a:solidFill>
          <a:ln w="9525">
            <a:solidFill>
              <a:schemeClr val="accent3"/>
            </a:solidFill>
            <a:prstDash val="solid"/>
          </a:ln>
        </p:spPr>
      </p:sp>
      <p:sp>
        <p:nvSpPr>
          <p:cNvPr id="17" name="Step 4 accent"/>
          <p:cNvSpPr/>
          <p:nvPr/>
        </p:nvSpPr>
        <p:spPr>
          <a:xfrm>
            <a:off x="6711696" y="1280160"/>
            <a:ext cx="64008" cy="1920240"/>
          </a:xfrm>
          <a:prstGeom prst="rect">
            <a:avLst/>
          </a:prstGeom>
          <a:solidFill>
            <a:schemeClr val="accent5"/>
          </a:solidFill>
          <a:ln w="12700">
            <a:solidFill>
              <a:schemeClr val="accent5"/>
            </a:solidFill>
            <a:prstDash val="solid"/>
          </a:ln>
        </p:spPr>
      </p:sp>
      <p:sp>
        <p:nvSpPr>
          <p:cNvPr id="18" name="Step 4 heading"/>
          <p:cNvSpPr txBox="1"/>
          <p:nvPr/>
        </p:nvSpPr>
        <p:spPr>
          <a:xfrm>
            <a:off x="6894576" y="1353312"/>
            <a:ext cx="1645920" cy="292608"/>
          </a:xfrm>
          <a:prstGeom prst="rect">
            <a:avLst/>
          </a:prstGeom>
          <a:noFill/>
          <a:ln/>
        </p:spPr>
        <p:txBody>
          <a:bodyPr wrap="square" lIns="0" tIns="0" rIns="0" bIns="0" rtlCol="0" anchor="ctr"/>
          <a:lstStyle/>
          <a:p>
            <a:pPr indent="0" marL="0">
              <a:buNone/>
            </a:pPr>
            <a:r>
              <a:rPr lang="en-US" sz="1300" b="1" dirty="0">
                <a:solidFill>
                  <a:schemeClr val="tx1"/>
                </a:solidFill>
              </a:rPr>
              <a:t>UNDERSTAND</a:t>
            </a:r>
            <a:endParaRPr lang="en-US" sz="1300" dirty="0"/>
          </a:p>
        </p:txBody>
      </p:sp>
      <p:sp>
        <p:nvSpPr>
          <p:cNvPr id="19" name="Step 4 body"/>
          <p:cNvSpPr txBox="1"/>
          <p:nvPr/>
        </p:nvSpPr>
        <p:spPr>
          <a:xfrm>
            <a:off x="6894576" y="1664208"/>
            <a:ext cx="164592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Education, personal goals, myth vs fact and the CardioCare AI assistant</a:t>
            </a:r>
            <a:endParaRPr lang="en-US" sz="1050" dirty="0"/>
          </a:p>
        </p:txBody>
      </p:sp>
      <p:sp>
        <p:nvSpPr>
          <p:cNvPr id="20" name="Text 17"/>
          <p:cNvSpPr txBox="1"/>
          <p:nvPr/>
        </p:nvSpPr>
        <p:spPr>
          <a:xfrm>
            <a:off x="457200" y="3474720"/>
            <a:ext cx="8229600" cy="548640"/>
          </a:xfrm>
          <a:prstGeom prst="rect">
            <a:avLst/>
          </a:prstGeom>
          <a:noFill/>
          <a:ln/>
        </p:spPr>
        <p:txBody>
          <a:bodyPr wrap="square" lIns="0" tIns="0" rIns="0" bIns="0" rtlCol="0" anchor="ctr"/>
          <a:lstStyle/>
          <a:p>
            <a:pPr indent="0" marL="0">
              <a:buNone/>
            </a:pPr>
            <a:r>
              <a:rPr lang="en-US" sz="1200" i="1" dirty="0">
                <a:solidFill>
                  <a:schemeClr val="tx2"/>
                </a:solidFill>
              </a:rPr>
              <a:t>Educational/research prototype: it does not diagnose disease or predict individual health outcomes. Scores are model scores, not clinical probabilities.</a:t>
            </a:r>
            <a:endParaRPr lang="en-US" sz="12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From health data to insight</a:t>
            </a:r>
            <a:endParaRPr lang="en-US" sz="2400" dirty="0"/>
          </a:p>
        </p:txBody>
      </p:sp>
      <p:sp>
        <p:nvSpPr>
          <p:cNvPr id="4" name="Assessment card"/>
          <p:cNvSpPr/>
          <p:nvPr/>
        </p:nvSpPr>
        <p:spPr>
          <a:xfrm>
            <a:off x="457200" y="1280160"/>
            <a:ext cx="4023360" cy="3200400"/>
          </a:xfrm>
          <a:prstGeom prst="rect">
            <a:avLst/>
          </a:prstGeom>
          <a:solidFill>
            <a:schemeClr val="bg1"/>
          </a:solidFill>
          <a:ln w="9525">
            <a:solidFill>
              <a:schemeClr val="accent3"/>
            </a:solidFill>
            <a:prstDash val="solid"/>
          </a:ln>
        </p:spPr>
      </p:sp>
      <p:sp>
        <p:nvSpPr>
          <p:cNvPr id="5" name="Assessment accent"/>
          <p:cNvSpPr/>
          <p:nvPr/>
        </p:nvSpPr>
        <p:spPr>
          <a:xfrm>
            <a:off x="457200" y="1280160"/>
            <a:ext cx="64008" cy="3200400"/>
          </a:xfrm>
          <a:prstGeom prst="rect">
            <a:avLst/>
          </a:prstGeom>
          <a:solidFill>
            <a:schemeClr val="accent4"/>
          </a:solidFill>
          <a:ln w="12700">
            <a:solidFill>
              <a:schemeClr val="accent4"/>
            </a:solidFill>
            <a:prstDash val="solid"/>
          </a:ln>
        </p:spPr>
      </p:sp>
      <p:sp>
        <p:nvSpPr>
          <p:cNvPr id="6" name="Assessment heading"/>
          <p:cNvSpPr txBox="1"/>
          <p:nvPr/>
        </p:nvSpPr>
        <p:spPr>
          <a:xfrm>
            <a:off x="640080" y="135331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Assessment: 5-step wizard</a:t>
            </a:r>
            <a:endParaRPr lang="en-US" sz="1300" dirty="0"/>
          </a:p>
        </p:txBody>
      </p:sp>
      <p:sp>
        <p:nvSpPr>
          <p:cNvPr id="7" name="Assessment body"/>
          <p:cNvSpPr txBox="1"/>
          <p:nvPr/>
        </p:nvSpPr>
        <p:spPr>
          <a:xfrm>
            <a:off x="640080" y="1664208"/>
            <a:ext cx="3749040" cy="27432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Personal → Clinical → Lifestyle → Medical history → Analyze</a:t>
            </a:r>
            <a:endParaRPr lang="en-US" sz="1050" dirty="0"/>
          </a:p>
          <a:p>
            <a:pPr marL="342900" indent="-342900">
              <a:spcAft>
                <a:spcPts val="300"/>
              </a:spcAft>
              <a:buSzPct val="100000"/>
              <a:buChar char="•"/>
            </a:pPr>
            <a:r>
              <a:rPr lang="en-US" sz="1050" dirty="0">
                <a:solidFill>
                  <a:schemeClr val="tx2"/>
                </a:solidFill>
              </a:rPr>
              <a:t>ECG-style progress line; sliders, toggles, clean input cards</a:t>
            </a:r>
            <a:endParaRPr lang="en-US" sz="1050" dirty="0"/>
          </a:p>
          <a:p>
            <a:pPr marL="342900" indent="-342900">
              <a:spcAft>
                <a:spcPts val="300"/>
              </a:spcAft>
              <a:buSzPct val="100000"/>
              <a:buChar char="•"/>
            </a:pPr>
            <a:r>
              <a:rPr lang="en-US" sz="1050" dirty="0">
                <a:solidFill>
                  <a:schemeClr val="tx2"/>
                </a:solidFill>
              </a:rPr>
              <a:t>BMI calculated automatically from height and weight</a:t>
            </a:r>
            <a:endParaRPr lang="en-US" sz="1050" dirty="0"/>
          </a:p>
          <a:p>
            <a:pPr marL="342900" indent="-342900">
              <a:spcAft>
                <a:spcPts val="300"/>
              </a:spcAft>
              <a:buSzPct val="100000"/>
              <a:buChar char="•"/>
            </a:pPr>
            <a:r>
              <a:rPr lang="en-US" sz="1050" dirty="0">
                <a:solidFill>
                  <a:schemeClr val="tx2"/>
                </a:solidFill>
              </a:rPr>
              <a:t>Validation for missing, impossible and unusual values</a:t>
            </a:r>
            <a:endParaRPr lang="en-US" sz="1050" dirty="0"/>
          </a:p>
          <a:p>
            <a:pPr marL="342900" indent="-342900">
              <a:spcAft>
                <a:spcPts val="300"/>
              </a:spcAft>
              <a:buSzPct val="100000"/>
              <a:buChar char="•"/>
            </a:pPr>
            <a:r>
              <a:rPr lang="en-US" sz="1050" dirty="0">
                <a:solidFill>
                  <a:schemeClr val="tx2"/>
                </a:solidFill>
              </a:rPr>
              <a:t>Data stays in the browser tab, nothing stored</a:t>
            </a:r>
            <a:endParaRPr lang="en-US" sz="1050" dirty="0"/>
          </a:p>
        </p:txBody>
      </p:sp>
      <p:sp>
        <p:nvSpPr>
          <p:cNvPr id="8" name="Analysis card"/>
          <p:cNvSpPr/>
          <p:nvPr/>
        </p:nvSpPr>
        <p:spPr>
          <a:xfrm>
            <a:off x="4663440" y="1280160"/>
            <a:ext cx="4023360" cy="3200400"/>
          </a:xfrm>
          <a:prstGeom prst="rect">
            <a:avLst/>
          </a:prstGeom>
          <a:solidFill>
            <a:schemeClr val="bg1"/>
          </a:solidFill>
          <a:ln w="9525">
            <a:solidFill>
              <a:schemeClr val="accent3"/>
            </a:solidFill>
            <a:prstDash val="solid"/>
          </a:ln>
        </p:spPr>
      </p:sp>
      <p:sp>
        <p:nvSpPr>
          <p:cNvPr id="9" name="Analysis accent"/>
          <p:cNvSpPr/>
          <p:nvPr/>
        </p:nvSpPr>
        <p:spPr>
          <a:xfrm>
            <a:off x="4663440" y="1280160"/>
            <a:ext cx="64008" cy="3200400"/>
          </a:xfrm>
          <a:prstGeom prst="rect">
            <a:avLst/>
          </a:prstGeom>
          <a:solidFill>
            <a:schemeClr val="accent1"/>
          </a:solidFill>
          <a:ln w="12700">
            <a:solidFill>
              <a:schemeClr val="accent1"/>
            </a:solidFill>
            <a:prstDash val="solid"/>
          </a:ln>
        </p:spPr>
      </p:sp>
      <p:sp>
        <p:nvSpPr>
          <p:cNvPr id="10" name="Analysis heading"/>
          <p:cNvSpPr txBox="1"/>
          <p:nvPr/>
        </p:nvSpPr>
        <p:spPr>
          <a:xfrm>
            <a:off x="4846320" y="135331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Risk Analysis dashboard</a:t>
            </a:r>
            <a:endParaRPr lang="en-US" sz="1300" dirty="0"/>
          </a:p>
        </p:txBody>
      </p:sp>
      <p:sp>
        <p:nvSpPr>
          <p:cNvPr id="11" name="Analysis body"/>
          <p:cNvSpPr txBox="1"/>
          <p:nvPr/>
        </p:nvSpPr>
        <p:spPr>
          <a:xfrm>
            <a:off x="4846320" y="1664208"/>
            <a:ext cx="3749040" cy="27432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Animated gauge: “62 / 100” model score with Low / Moderate / Elevated / High</a:t>
            </a:r>
            <a:endParaRPr lang="en-US" sz="1050" dirty="0"/>
          </a:p>
          <a:p>
            <a:pPr marL="342900" indent="-342900">
              <a:spcAft>
                <a:spcPts val="300"/>
              </a:spcAft>
              <a:buSzPct val="100000"/>
              <a:buChar char="•"/>
            </a:pPr>
            <a:r>
              <a:rPr lang="en-US" sz="1050" dirty="0">
                <a:solidFill>
                  <a:schemeClr val="tx2"/>
                </a:solidFill>
              </a:rPr>
              <a:t>Contribution bars and a “Why this score?” explanation</a:t>
            </a:r>
            <a:endParaRPr lang="en-US" sz="1050" dirty="0"/>
          </a:p>
          <a:p>
            <a:pPr marL="342900" indent="-342900">
              <a:spcAft>
                <a:spcPts val="300"/>
              </a:spcAft>
              <a:buSzPct val="100000"/>
              <a:buChar char="•"/>
            </a:pPr>
            <a:r>
              <a:rPr lang="en-US" sz="1050" dirty="0">
                <a:solidFill>
                  <a:schemeClr val="tx2"/>
                </a:solidFill>
              </a:rPr>
              <a:t>Cardiovascular Fingerprint: radar of Pressure, Lipids, Metabolic, Lifestyle, Background</a:t>
            </a:r>
            <a:endParaRPr lang="en-US" sz="1050" dirty="0"/>
          </a:p>
          <a:p>
            <a:pPr marL="342900" indent="-342900">
              <a:spcAft>
                <a:spcPts val="300"/>
              </a:spcAft>
              <a:buSzPct val="100000"/>
              <a:buChar char="•"/>
            </a:pPr>
            <a:r>
              <a:rPr lang="en-US" sz="1050" dirty="0">
                <a:solidFill>
                  <a:schemeClr val="tx2"/>
                </a:solidFill>
              </a:rPr>
              <a:t>Downloadable report and “Start New Assessment”</a:t>
            </a:r>
            <a:endParaRPr lang="en-US" sz="1050" dirty="0"/>
          </a:p>
          <a:p>
            <a:pPr marL="342900" indent="-342900">
              <a:spcAft>
                <a:spcPts val="300"/>
              </a:spcAft>
              <a:buSzPct val="100000"/>
              <a:buChar char="•"/>
            </a:pPr>
            <a:r>
              <a:rPr lang="en-US" sz="1050" dirty="0">
                <a:solidFill>
                  <a:schemeClr val="tx2"/>
                </a:solidFill>
              </a:rPr>
              <a:t>Disclaimer shown on assessment and result pages</a:t>
            </a:r>
            <a:endParaRPr lang="en-US" sz="105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Four ways to explore the model</a:t>
            </a:r>
            <a:endParaRPr lang="en-US" sz="2400" dirty="0"/>
          </a:p>
        </p:txBody>
      </p:sp>
      <p:sp>
        <p:nvSpPr>
          <p:cNvPr id="4" name="WhatIf card"/>
          <p:cNvSpPr/>
          <p:nvPr/>
        </p:nvSpPr>
        <p:spPr>
          <a:xfrm>
            <a:off x="457200" y="1280160"/>
            <a:ext cx="4023360" cy="1554480"/>
          </a:xfrm>
          <a:prstGeom prst="rect">
            <a:avLst/>
          </a:prstGeom>
          <a:solidFill>
            <a:schemeClr val="bg1"/>
          </a:solidFill>
          <a:ln w="9525">
            <a:solidFill>
              <a:schemeClr val="accent3"/>
            </a:solidFill>
            <a:prstDash val="solid"/>
          </a:ln>
        </p:spPr>
      </p:sp>
      <p:sp>
        <p:nvSpPr>
          <p:cNvPr id="5" name="WhatIf accent"/>
          <p:cNvSpPr/>
          <p:nvPr/>
        </p:nvSpPr>
        <p:spPr>
          <a:xfrm>
            <a:off x="457200" y="1280160"/>
            <a:ext cx="64008" cy="1554480"/>
          </a:xfrm>
          <a:prstGeom prst="rect">
            <a:avLst/>
          </a:prstGeom>
          <a:solidFill>
            <a:schemeClr val="accent4"/>
          </a:solidFill>
          <a:ln w="12700">
            <a:solidFill>
              <a:schemeClr val="accent4"/>
            </a:solidFill>
            <a:prstDash val="solid"/>
          </a:ln>
        </p:spPr>
      </p:sp>
      <p:sp>
        <p:nvSpPr>
          <p:cNvPr id="6" name="WhatIf heading"/>
          <p:cNvSpPr txBox="1"/>
          <p:nvPr/>
        </p:nvSpPr>
        <p:spPr>
          <a:xfrm>
            <a:off x="640080" y="135331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What-If Simulator</a:t>
            </a:r>
            <a:endParaRPr lang="en-US" sz="1300" dirty="0"/>
          </a:p>
        </p:txBody>
      </p:sp>
      <p:sp>
        <p:nvSpPr>
          <p:cNvPr id="7" name="WhatIf body"/>
          <p:cNvSpPr txBox="1"/>
          <p:nvPr/>
        </p:nvSpPr>
        <p:spPr>
          <a:xfrm>
            <a:off x="640080" y="1664208"/>
            <a:ext cx="3749040" cy="10972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Sliders for blood pressure, cholesterol, weight; smoking and activity</a:t>
            </a:r>
            <a:endParaRPr lang="en-US" sz="1050" dirty="0"/>
          </a:p>
          <a:p>
            <a:pPr marL="342900" indent="-342900">
              <a:spcAft>
                <a:spcPts val="300"/>
              </a:spcAft>
              <a:buSzPct val="100000"/>
              <a:buChar char="•"/>
            </a:pPr>
            <a:r>
              <a:rPr lang="en-US" sz="1050" dirty="0">
                <a:solidFill>
                  <a:schemeClr val="tx2"/>
                </a:solidFill>
              </a:rPr>
              <a:t>Original → hypothetical score with radar overlay</a:t>
            </a:r>
            <a:endParaRPr lang="en-US" sz="1050" dirty="0"/>
          </a:p>
        </p:txBody>
      </p:sp>
      <p:sp>
        <p:nvSpPr>
          <p:cNvPr id="8" name="Compare card"/>
          <p:cNvSpPr/>
          <p:nvPr/>
        </p:nvSpPr>
        <p:spPr>
          <a:xfrm>
            <a:off x="4663440" y="1280160"/>
            <a:ext cx="4023360" cy="1554480"/>
          </a:xfrm>
          <a:prstGeom prst="rect">
            <a:avLst/>
          </a:prstGeom>
          <a:solidFill>
            <a:schemeClr val="bg1"/>
          </a:solidFill>
          <a:ln w="9525">
            <a:solidFill>
              <a:schemeClr val="accent3"/>
            </a:solidFill>
            <a:prstDash val="solid"/>
          </a:ln>
        </p:spPr>
      </p:sp>
      <p:sp>
        <p:nvSpPr>
          <p:cNvPr id="9" name="Compare accent"/>
          <p:cNvSpPr/>
          <p:nvPr/>
        </p:nvSpPr>
        <p:spPr>
          <a:xfrm>
            <a:off x="4663440" y="1280160"/>
            <a:ext cx="64008" cy="1554480"/>
          </a:xfrm>
          <a:prstGeom prst="rect">
            <a:avLst/>
          </a:prstGeom>
          <a:solidFill>
            <a:schemeClr val="accent1"/>
          </a:solidFill>
          <a:ln w="12700">
            <a:solidFill>
              <a:schemeClr val="accent1"/>
            </a:solidFill>
            <a:prstDash val="solid"/>
          </a:ln>
        </p:spPr>
      </p:sp>
      <p:sp>
        <p:nvSpPr>
          <p:cNvPr id="10" name="Compare heading"/>
          <p:cNvSpPr txBox="1"/>
          <p:nvPr/>
        </p:nvSpPr>
        <p:spPr>
          <a:xfrm>
            <a:off x="4846320" y="135331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Same Score ≠ Same Story</a:t>
            </a:r>
            <a:endParaRPr lang="en-US" sz="1300" dirty="0"/>
          </a:p>
        </p:txBody>
      </p:sp>
      <p:sp>
        <p:nvSpPr>
          <p:cNvPr id="11" name="Compare body"/>
          <p:cNvSpPr txBox="1"/>
          <p:nvPr/>
        </p:nvSpPr>
        <p:spPr>
          <a:xfrm>
            <a:off x="4846320" y="1664208"/>
            <a:ext cx="3749040" cy="10972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Profile A and B both 62, with different drivers</a:t>
            </a:r>
            <a:endParaRPr lang="en-US" sz="1050" dirty="0"/>
          </a:p>
          <a:p>
            <a:pPr marL="342900" indent="-342900">
              <a:spcAft>
                <a:spcPts val="300"/>
              </a:spcAft>
              <a:buSzPct val="100000"/>
              <a:buChar char="•"/>
            </a:pPr>
            <a:r>
              <a:rPr lang="en-US" sz="1050" dirty="0">
                <a:solidFill>
                  <a:schemeClr val="tx2"/>
                </a:solidFill>
              </a:rPr>
              <a:t>Pressure + cholesterol vs lifestyle + BMI; compare with your own profile</a:t>
            </a:r>
            <a:endParaRPr lang="en-US" sz="1050" dirty="0"/>
          </a:p>
        </p:txBody>
      </p:sp>
      <p:sp>
        <p:nvSpPr>
          <p:cNvPr id="12" name="Time card"/>
          <p:cNvSpPr/>
          <p:nvPr/>
        </p:nvSpPr>
        <p:spPr>
          <a:xfrm>
            <a:off x="457200" y="3017520"/>
            <a:ext cx="4023360" cy="1554480"/>
          </a:xfrm>
          <a:prstGeom prst="rect">
            <a:avLst/>
          </a:prstGeom>
          <a:solidFill>
            <a:schemeClr val="bg1"/>
          </a:solidFill>
          <a:ln w="9525">
            <a:solidFill>
              <a:schemeClr val="accent3"/>
            </a:solidFill>
            <a:prstDash val="solid"/>
          </a:ln>
        </p:spPr>
      </p:sp>
      <p:sp>
        <p:nvSpPr>
          <p:cNvPr id="13" name="Time accent"/>
          <p:cNvSpPr/>
          <p:nvPr/>
        </p:nvSpPr>
        <p:spPr>
          <a:xfrm>
            <a:off x="457200" y="3017520"/>
            <a:ext cx="64008" cy="1554480"/>
          </a:xfrm>
          <a:prstGeom prst="rect">
            <a:avLst/>
          </a:prstGeom>
          <a:solidFill>
            <a:schemeClr val="accent2"/>
          </a:solidFill>
          <a:ln w="12700">
            <a:solidFill>
              <a:schemeClr val="accent2"/>
            </a:solidFill>
            <a:prstDash val="solid"/>
          </a:ln>
        </p:spPr>
      </p:sp>
      <p:sp>
        <p:nvSpPr>
          <p:cNvPr id="14" name="Time heading"/>
          <p:cNvSpPr txBox="1"/>
          <p:nvPr/>
        </p:nvSpPr>
        <p:spPr>
          <a:xfrm>
            <a:off x="640080" y="309067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Risk Time Machine</a:t>
            </a:r>
            <a:endParaRPr lang="en-US" sz="1300" dirty="0"/>
          </a:p>
        </p:txBody>
      </p:sp>
      <p:sp>
        <p:nvSpPr>
          <p:cNvPr id="15" name="Time body"/>
          <p:cNvSpPr txBox="1"/>
          <p:nvPr/>
        </p:nvSpPr>
        <p:spPr>
          <a:xfrm>
            <a:off x="640080" y="3401568"/>
            <a:ext cx="3749040" cy="10972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Now → 1 → 3 → 5 years on an interactive chart</a:t>
            </a:r>
            <a:endParaRPr lang="en-US" sz="1050" dirty="0"/>
          </a:p>
          <a:p>
            <a:pPr marL="342900" indent="-342900">
              <a:spcAft>
                <a:spcPts val="300"/>
              </a:spcAft>
              <a:buSzPct val="100000"/>
              <a:buChar char="•"/>
            </a:pPr>
            <a:r>
              <a:rPr lang="en-US" sz="1050" dirty="0">
                <a:solidFill>
                  <a:schemeClr val="tx2"/>
                </a:solidFill>
              </a:rPr>
              <a:t>Illustrative scenarios, not a clinical forecast</a:t>
            </a:r>
            <a:endParaRPr lang="en-US" sz="1050" dirty="0"/>
          </a:p>
        </p:txBody>
      </p:sp>
      <p:sp>
        <p:nvSpPr>
          <p:cNvPr id="16" name="Challenge card"/>
          <p:cNvSpPr/>
          <p:nvPr/>
        </p:nvSpPr>
        <p:spPr>
          <a:xfrm>
            <a:off x="4663440" y="3017520"/>
            <a:ext cx="4023360" cy="1554480"/>
          </a:xfrm>
          <a:prstGeom prst="rect">
            <a:avLst/>
          </a:prstGeom>
          <a:solidFill>
            <a:schemeClr val="bg1"/>
          </a:solidFill>
          <a:ln w="9525">
            <a:solidFill>
              <a:schemeClr val="accent3"/>
            </a:solidFill>
            <a:prstDash val="solid"/>
          </a:ln>
        </p:spPr>
      </p:sp>
      <p:sp>
        <p:nvSpPr>
          <p:cNvPr id="17" name="Challenge accent"/>
          <p:cNvSpPr/>
          <p:nvPr/>
        </p:nvSpPr>
        <p:spPr>
          <a:xfrm>
            <a:off x="4663440" y="3017520"/>
            <a:ext cx="64008" cy="1554480"/>
          </a:xfrm>
          <a:prstGeom prst="rect">
            <a:avLst/>
          </a:prstGeom>
          <a:solidFill>
            <a:schemeClr val="accent5"/>
          </a:solidFill>
          <a:ln w="12700">
            <a:solidFill>
              <a:schemeClr val="accent5"/>
            </a:solidFill>
            <a:prstDash val="solid"/>
          </a:ln>
        </p:spPr>
      </p:sp>
      <p:sp>
        <p:nvSpPr>
          <p:cNvPr id="18" name="Challenge heading"/>
          <p:cNvSpPr txBox="1"/>
          <p:nvPr/>
        </p:nvSpPr>
        <p:spPr>
          <a:xfrm>
            <a:off x="4846320" y="309067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Challenge Mode</a:t>
            </a:r>
            <a:endParaRPr lang="en-US" sz="1300" dirty="0"/>
          </a:p>
        </p:txBody>
      </p:sp>
      <p:sp>
        <p:nvSpPr>
          <p:cNvPr id="19" name="Challenge body"/>
          <p:cNvSpPr txBox="1"/>
          <p:nvPr/>
        </p:nvSpPr>
        <p:spPr>
          <a:xfrm>
            <a:off x="4846320" y="3401568"/>
            <a:ext cx="3749040" cy="10972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“Can you change the model output?” with fictional Patient #07</a:t>
            </a:r>
            <a:endParaRPr lang="en-US" sz="1050" dirty="0"/>
          </a:p>
          <a:p>
            <a:pPr marL="342900" indent="-342900">
              <a:spcAft>
                <a:spcPts val="300"/>
              </a:spcAft>
              <a:buSzPct val="100000"/>
              <a:buChar char="•"/>
            </a:pPr>
            <a:r>
              <a:rPr lang="en-US" sz="1050" dirty="0">
                <a:solidFill>
                  <a:schemeClr val="tx2"/>
                </a:solidFill>
              </a:rPr>
              <a:t>Educational simulation; a lower score is not a health guarantee</a:t>
            </a:r>
            <a:endParaRPr lang="en-US" sz="105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Learn, plan and ask</a:t>
            </a:r>
            <a:endParaRPr lang="en-US" sz="2400" dirty="0"/>
          </a:p>
        </p:txBody>
      </p:sp>
      <p:sp>
        <p:nvSpPr>
          <p:cNvPr id="4" name="Learn 1 card"/>
          <p:cNvSpPr/>
          <p:nvPr/>
        </p:nvSpPr>
        <p:spPr>
          <a:xfrm>
            <a:off x="457200" y="1234440"/>
            <a:ext cx="2651760" cy="1508760"/>
          </a:xfrm>
          <a:prstGeom prst="rect">
            <a:avLst/>
          </a:prstGeom>
          <a:solidFill>
            <a:schemeClr val="bg1"/>
          </a:solidFill>
          <a:ln w="9525">
            <a:solidFill>
              <a:schemeClr val="accent3"/>
            </a:solidFill>
            <a:prstDash val="solid"/>
          </a:ln>
        </p:spPr>
      </p:sp>
      <p:sp>
        <p:nvSpPr>
          <p:cNvPr id="5" name="Learn 1 accent"/>
          <p:cNvSpPr/>
          <p:nvPr/>
        </p:nvSpPr>
        <p:spPr>
          <a:xfrm>
            <a:off x="457200" y="1234440"/>
            <a:ext cx="64008" cy="1508760"/>
          </a:xfrm>
          <a:prstGeom prst="rect">
            <a:avLst/>
          </a:prstGeom>
          <a:solidFill>
            <a:schemeClr val="accent4"/>
          </a:solidFill>
          <a:ln w="12700">
            <a:solidFill>
              <a:schemeClr val="accent4"/>
            </a:solidFill>
            <a:prstDash val="solid"/>
          </a:ln>
        </p:spPr>
      </p:sp>
      <p:sp>
        <p:nvSpPr>
          <p:cNvPr id="6" name="Learn 1 heading"/>
          <p:cNvSpPr txBox="1"/>
          <p:nvPr/>
        </p:nvSpPr>
        <p:spPr>
          <a:xfrm>
            <a:off x="640080" y="1307592"/>
            <a:ext cx="2377440" cy="292608"/>
          </a:xfrm>
          <a:prstGeom prst="rect">
            <a:avLst/>
          </a:prstGeom>
          <a:noFill/>
          <a:ln/>
        </p:spPr>
        <p:txBody>
          <a:bodyPr wrap="square" lIns="0" tIns="0" rIns="0" bIns="0" rtlCol="0" anchor="ctr"/>
          <a:lstStyle/>
          <a:p>
            <a:pPr indent="0" marL="0">
              <a:buNone/>
            </a:pPr>
            <a:r>
              <a:rPr lang="en-US" sz="1300" b="1" dirty="0">
                <a:solidFill>
                  <a:schemeClr val="tx1"/>
                </a:solidFill>
              </a:rPr>
              <a:t>Educational Insights</a:t>
            </a:r>
            <a:endParaRPr lang="en-US" sz="1300" dirty="0"/>
          </a:p>
        </p:txBody>
      </p:sp>
      <p:sp>
        <p:nvSpPr>
          <p:cNvPr id="7" name="Learn 1 body"/>
          <p:cNvSpPr txBox="1"/>
          <p:nvPr/>
        </p:nvSpPr>
        <p:spPr>
          <a:xfrm>
            <a:off x="640080" y="161848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7 topics: blood pressure, cholesterol, BMI, diabetes/glucose, smoking, activity, obesity</a:t>
            </a:r>
            <a:endParaRPr lang="en-US" sz="1050" dirty="0"/>
          </a:p>
          <a:p>
            <a:pPr marL="342900" indent="-342900">
              <a:spcAft>
                <a:spcPts val="300"/>
              </a:spcAft>
              <a:buSzPct val="100000"/>
              <a:buChar char="•"/>
            </a:pPr>
            <a:r>
              <a:rPr lang="en-US" sz="1050" dirty="0">
                <a:solidFill>
                  <a:schemeClr val="tx2"/>
                </a:solidFill>
              </a:rPr>
              <a:t>What is it? Why it matters? Effect on risk?</a:t>
            </a:r>
            <a:endParaRPr lang="en-US" sz="1050" dirty="0"/>
          </a:p>
        </p:txBody>
      </p:sp>
      <p:sp>
        <p:nvSpPr>
          <p:cNvPr id="8" name="Learn 2 card"/>
          <p:cNvSpPr/>
          <p:nvPr/>
        </p:nvSpPr>
        <p:spPr>
          <a:xfrm>
            <a:off x="3264408" y="1234440"/>
            <a:ext cx="2651760" cy="1508760"/>
          </a:xfrm>
          <a:prstGeom prst="rect">
            <a:avLst/>
          </a:prstGeom>
          <a:solidFill>
            <a:schemeClr val="bg1"/>
          </a:solidFill>
          <a:ln w="9525">
            <a:solidFill>
              <a:schemeClr val="accent3"/>
            </a:solidFill>
            <a:prstDash val="solid"/>
          </a:ln>
        </p:spPr>
      </p:sp>
      <p:sp>
        <p:nvSpPr>
          <p:cNvPr id="9" name="Learn 2 accent"/>
          <p:cNvSpPr/>
          <p:nvPr/>
        </p:nvSpPr>
        <p:spPr>
          <a:xfrm>
            <a:off x="3264408" y="1234440"/>
            <a:ext cx="64008" cy="1508760"/>
          </a:xfrm>
          <a:prstGeom prst="rect">
            <a:avLst/>
          </a:prstGeom>
          <a:solidFill>
            <a:schemeClr val="accent1"/>
          </a:solidFill>
          <a:ln w="12700">
            <a:solidFill>
              <a:schemeClr val="accent1"/>
            </a:solidFill>
            <a:prstDash val="solid"/>
          </a:ln>
        </p:spPr>
      </p:sp>
      <p:sp>
        <p:nvSpPr>
          <p:cNvPr id="10" name="Learn 2 heading"/>
          <p:cNvSpPr txBox="1"/>
          <p:nvPr/>
        </p:nvSpPr>
        <p:spPr>
          <a:xfrm>
            <a:off x="3447288" y="1307592"/>
            <a:ext cx="2377440" cy="292608"/>
          </a:xfrm>
          <a:prstGeom prst="rect">
            <a:avLst/>
          </a:prstGeom>
          <a:noFill/>
          <a:ln/>
        </p:spPr>
        <p:txBody>
          <a:bodyPr wrap="square" lIns="0" tIns="0" rIns="0" bIns="0" rtlCol="0" anchor="ctr"/>
          <a:lstStyle/>
          <a:p>
            <a:pPr indent="0" marL="0">
              <a:buNone/>
            </a:pPr>
            <a:r>
              <a:rPr lang="en-US" sz="1300" b="1" dirty="0">
                <a:solidFill>
                  <a:schemeClr val="tx1"/>
                </a:solidFill>
              </a:rPr>
              <a:t>Know Your Heart</a:t>
            </a:r>
            <a:endParaRPr lang="en-US" sz="1300" dirty="0"/>
          </a:p>
        </p:txBody>
      </p:sp>
      <p:sp>
        <p:nvSpPr>
          <p:cNvPr id="11" name="Learn 2 body"/>
          <p:cNvSpPr txBox="1"/>
          <p:nvPr/>
        </p:nvSpPr>
        <p:spPr>
          <a:xfrm>
            <a:off x="3447288" y="161848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Beating anatomical heart with 5 topics</a:t>
            </a:r>
            <a:endParaRPr lang="en-US" sz="1050" dirty="0"/>
          </a:p>
          <a:p>
            <a:pPr marL="342900" indent="-342900">
              <a:spcAft>
                <a:spcPts val="300"/>
              </a:spcAft>
              <a:buSzPct val="100000"/>
              <a:buChar char="•"/>
            </a:pPr>
            <a:r>
              <a:rPr lang="en-US" sz="1050" dirty="0">
                <a:solidFill>
                  <a:schemeClr val="tx2"/>
                </a:solidFill>
              </a:rPr>
              <a:t>Heart, vessels, circulation, pressure, how it works</a:t>
            </a:r>
            <a:endParaRPr lang="en-US" sz="1050" dirty="0"/>
          </a:p>
        </p:txBody>
      </p:sp>
      <p:sp>
        <p:nvSpPr>
          <p:cNvPr id="12" name="Learn 3 card"/>
          <p:cNvSpPr/>
          <p:nvPr/>
        </p:nvSpPr>
        <p:spPr>
          <a:xfrm>
            <a:off x="6071616" y="1234440"/>
            <a:ext cx="2651760" cy="1508760"/>
          </a:xfrm>
          <a:prstGeom prst="rect">
            <a:avLst/>
          </a:prstGeom>
          <a:solidFill>
            <a:schemeClr val="bg1"/>
          </a:solidFill>
          <a:ln w="9525">
            <a:solidFill>
              <a:schemeClr val="accent3"/>
            </a:solidFill>
            <a:prstDash val="solid"/>
          </a:ln>
        </p:spPr>
      </p:sp>
      <p:sp>
        <p:nvSpPr>
          <p:cNvPr id="13" name="Learn 3 accent"/>
          <p:cNvSpPr/>
          <p:nvPr/>
        </p:nvSpPr>
        <p:spPr>
          <a:xfrm>
            <a:off x="6071616" y="1234440"/>
            <a:ext cx="64008" cy="1508760"/>
          </a:xfrm>
          <a:prstGeom prst="rect">
            <a:avLst/>
          </a:prstGeom>
          <a:solidFill>
            <a:schemeClr val="accent2"/>
          </a:solidFill>
          <a:ln w="12700">
            <a:solidFill>
              <a:schemeClr val="accent2"/>
            </a:solidFill>
            <a:prstDash val="solid"/>
          </a:ln>
        </p:spPr>
      </p:sp>
      <p:sp>
        <p:nvSpPr>
          <p:cNvPr id="14" name="Learn 3 heading"/>
          <p:cNvSpPr txBox="1"/>
          <p:nvPr/>
        </p:nvSpPr>
        <p:spPr>
          <a:xfrm>
            <a:off x="6254496" y="1307592"/>
            <a:ext cx="2377440" cy="292608"/>
          </a:xfrm>
          <a:prstGeom prst="rect">
            <a:avLst/>
          </a:prstGeom>
          <a:noFill/>
          <a:ln/>
        </p:spPr>
        <p:txBody>
          <a:bodyPr wrap="square" lIns="0" tIns="0" rIns="0" bIns="0" rtlCol="0" anchor="ctr"/>
          <a:lstStyle/>
          <a:p>
            <a:pPr indent="0" marL="0">
              <a:buNone/>
            </a:pPr>
            <a:r>
              <a:rPr lang="en-US" sz="1300" b="1" dirty="0">
                <a:solidFill>
                  <a:schemeClr val="tx1"/>
                </a:solidFill>
              </a:rPr>
              <a:t>Personalized Health Tips</a:t>
            </a:r>
            <a:endParaRPr lang="en-US" sz="1300" dirty="0"/>
          </a:p>
        </p:txBody>
      </p:sp>
      <p:sp>
        <p:nvSpPr>
          <p:cNvPr id="15" name="Learn 3 body"/>
          <p:cNvSpPr txBox="1"/>
          <p:nvPr/>
        </p:nvSpPr>
        <p:spPr>
          <a:xfrm>
            <a:off x="6254496" y="161848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General tips from your entered factors</a:t>
            </a:r>
            <a:endParaRPr lang="en-US" sz="1050" dirty="0"/>
          </a:p>
          <a:p>
            <a:pPr marL="342900" indent="-342900">
              <a:spcAft>
                <a:spcPts val="300"/>
              </a:spcAft>
              <a:buSzPct val="100000"/>
              <a:buChar char="•"/>
            </a:pPr>
            <a:r>
              <a:rPr lang="en-US" sz="1050" dirty="0">
                <a:solidFill>
                  <a:schemeClr val="tx2"/>
                </a:solidFill>
              </a:rPr>
              <a:t>Not prescriptions; one-click “Add as goal”</a:t>
            </a:r>
            <a:endParaRPr lang="en-US" sz="1050" dirty="0"/>
          </a:p>
        </p:txBody>
      </p:sp>
      <p:sp>
        <p:nvSpPr>
          <p:cNvPr id="16" name="Learn 4 card"/>
          <p:cNvSpPr/>
          <p:nvPr/>
        </p:nvSpPr>
        <p:spPr>
          <a:xfrm>
            <a:off x="457200" y="2880360"/>
            <a:ext cx="2651760" cy="1508760"/>
          </a:xfrm>
          <a:prstGeom prst="rect">
            <a:avLst/>
          </a:prstGeom>
          <a:solidFill>
            <a:schemeClr val="bg1"/>
          </a:solidFill>
          <a:ln w="9525">
            <a:solidFill>
              <a:schemeClr val="accent3"/>
            </a:solidFill>
            <a:prstDash val="solid"/>
          </a:ln>
        </p:spPr>
      </p:sp>
      <p:sp>
        <p:nvSpPr>
          <p:cNvPr id="17" name="Learn 4 accent"/>
          <p:cNvSpPr/>
          <p:nvPr/>
        </p:nvSpPr>
        <p:spPr>
          <a:xfrm>
            <a:off x="457200" y="2880360"/>
            <a:ext cx="64008" cy="1508760"/>
          </a:xfrm>
          <a:prstGeom prst="rect">
            <a:avLst/>
          </a:prstGeom>
          <a:solidFill>
            <a:schemeClr val="accent5"/>
          </a:solidFill>
          <a:ln w="12700">
            <a:solidFill>
              <a:schemeClr val="accent5"/>
            </a:solidFill>
            <a:prstDash val="solid"/>
          </a:ln>
        </p:spPr>
      </p:sp>
      <p:sp>
        <p:nvSpPr>
          <p:cNvPr id="18" name="Learn 4 heading"/>
          <p:cNvSpPr txBox="1"/>
          <p:nvPr/>
        </p:nvSpPr>
        <p:spPr>
          <a:xfrm>
            <a:off x="640080" y="2953512"/>
            <a:ext cx="2377440" cy="292608"/>
          </a:xfrm>
          <a:prstGeom prst="rect">
            <a:avLst/>
          </a:prstGeom>
          <a:noFill/>
          <a:ln/>
        </p:spPr>
        <p:txBody>
          <a:bodyPr wrap="square" lIns="0" tIns="0" rIns="0" bIns="0" rtlCol="0" anchor="ctr"/>
          <a:lstStyle/>
          <a:p>
            <a:pPr indent="0" marL="0">
              <a:buNone/>
            </a:pPr>
            <a:r>
              <a:rPr lang="en-US" sz="1300" b="1" dirty="0">
                <a:solidFill>
                  <a:schemeClr val="tx1"/>
                </a:solidFill>
              </a:rPr>
              <a:t>Personal Goals</a:t>
            </a:r>
            <a:endParaRPr lang="en-US" sz="1300" dirty="0"/>
          </a:p>
        </p:txBody>
      </p:sp>
      <p:sp>
        <p:nvSpPr>
          <p:cNvPr id="19" name="Learn 4 body"/>
          <p:cNvSpPr txBox="1"/>
          <p:nvPr/>
        </p:nvSpPr>
        <p:spPr>
          <a:xfrm>
            <a:off x="640080" y="326440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Preset or custom goals, tick off</a:t>
            </a:r>
            <a:endParaRPr lang="en-US" sz="1050" dirty="0"/>
          </a:p>
          <a:p>
            <a:pPr marL="342900" indent="-342900">
              <a:spcAft>
                <a:spcPts val="300"/>
              </a:spcAft>
              <a:buSzPct val="100000"/>
              <a:buChar char="•"/>
            </a:pPr>
            <a:r>
              <a:rPr lang="en-US" sz="1050" dirty="0">
                <a:solidFill>
                  <a:schemeClr val="tx2"/>
                </a:solidFill>
              </a:rPr>
              <a:t>Progress bar, session-only</a:t>
            </a:r>
            <a:endParaRPr lang="en-US" sz="1050" dirty="0"/>
          </a:p>
        </p:txBody>
      </p:sp>
      <p:sp>
        <p:nvSpPr>
          <p:cNvPr id="20" name="Learn 5 card"/>
          <p:cNvSpPr/>
          <p:nvPr/>
        </p:nvSpPr>
        <p:spPr>
          <a:xfrm>
            <a:off x="3264408" y="2880360"/>
            <a:ext cx="2651760" cy="1508760"/>
          </a:xfrm>
          <a:prstGeom prst="rect">
            <a:avLst/>
          </a:prstGeom>
          <a:solidFill>
            <a:schemeClr val="bg1"/>
          </a:solidFill>
          <a:ln w="9525">
            <a:solidFill>
              <a:schemeClr val="accent3"/>
            </a:solidFill>
            <a:prstDash val="solid"/>
          </a:ln>
        </p:spPr>
      </p:sp>
      <p:sp>
        <p:nvSpPr>
          <p:cNvPr id="21" name="Learn 5 accent"/>
          <p:cNvSpPr/>
          <p:nvPr/>
        </p:nvSpPr>
        <p:spPr>
          <a:xfrm>
            <a:off x="3264408" y="2880360"/>
            <a:ext cx="64008" cy="1508760"/>
          </a:xfrm>
          <a:prstGeom prst="rect">
            <a:avLst/>
          </a:prstGeom>
          <a:solidFill>
            <a:schemeClr val="accent4"/>
          </a:solidFill>
          <a:ln w="12700">
            <a:solidFill>
              <a:schemeClr val="accent4"/>
            </a:solidFill>
            <a:prstDash val="solid"/>
          </a:ln>
        </p:spPr>
      </p:sp>
      <p:sp>
        <p:nvSpPr>
          <p:cNvPr id="22" name="Learn 5 heading"/>
          <p:cNvSpPr txBox="1"/>
          <p:nvPr/>
        </p:nvSpPr>
        <p:spPr>
          <a:xfrm>
            <a:off x="3447288" y="2953512"/>
            <a:ext cx="2377440" cy="292608"/>
          </a:xfrm>
          <a:prstGeom prst="rect">
            <a:avLst/>
          </a:prstGeom>
          <a:noFill/>
          <a:ln/>
        </p:spPr>
        <p:txBody>
          <a:bodyPr wrap="square" lIns="0" tIns="0" rIns="0" bIns="0" rtlCol="0" anchor="ctr"/>
          <a:lstStyle/>
          <a:p>
            <a:pPr indent="0" marL="0">
              <a:buNone/>
            </a:pPr>
            <a:r>
              <a:rPr lang="en-US" sz="1300" b="1" dirty="0">
                <a:solidFill>
                  <a:schemeClr val="tx1"/>
                </a:solidFill>
              </a:rPr>
              <a:t>Myth vs Fact</a:t>
            </a:r>
            <a:endParaRPr lang="en-US" sz="1300" dirty="0"/>
          </a:p>
        </p:txBody>
      </p:sp>
      <p:sp>
        <p:nvSpPr>
          <p:cNvPr id="23" name="Learn 5 body"/>
          <p:cNvSpPr txBox="1"/>
          <p:nvPr/>
        </p:nvSpPr>
        <p:spPr>
          <a:xfrm>
            <a:off x="3447288" y="326440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8 statements, guess or reveal</a:t>
            </a:r>
            <a:endParaRPr lang="en-US" sz="1050" dirty="0"/>
          </a:p>
          <a:p>
            <a:pPr marL="342900" indent="-342900">
              <a:spcAft>
                <a:spcPts val="300"/>
              </a:spcAft>
              <a:buSzPct val="100000"/>
              <a:buChar char="•"/>
            </a:pPr>
            <a:r>
              <a:rPr lang="en-US" sz="1050" dirty="0">
                <a:solidFill>
                  <a:schemeClr val="tx2"/>
                </a:solidFill>
              </a:rPr>
              <a:t>Short educational explanations</a:t>
            </a:r>
            <a:endParaRPr lang="en-US" sz="1050" dirty="0"/>
          </a:p>
        </p:txBody>
      </p:sp>
      <p:sp>
        <p:nvSpPr>
          <p:cNvPr id="24" name="Learn 6 card"/>
          <p:cNvSpPr/>
          <p:nvPr/>
        </p:nvSpPr>
        <p:spPr>
          <a:xfrm>
            <a:off x="6071616" y="2880360"/>
            <a:ext cx="2651760" cy="1508760"/>
          </a:xfrm>
          <a:prstGeom prst="rect">
            <a:avLst/>
          </a:prstGeom>
          <a:solidFill>
            <a:schemeClr val="bg1"/>
          </a:solidFill>
          <a:ln w="9525">
            <a:solidFill>
              <a:schemeClr val="accent3"/>
            </a:solidFill>
            <a:prstDash val="solid"/>
          </a:ln>
        </p:spPr>
      </p:sp>
      <p:sp>
        <p:nvSpPr>
          <p:cNvPr id="25" name="Learn 6 accent"/>
          <p:cNvSpPr/>
          <p:nvPr/>
        </p:nvSpPr>
        <p:spPr>
          <a:xfrm>
            <a:off x="6071616" y="2880360"/>
            <a:ext cx="64008" cy="1508760"/>
          </a:xfrm>
          <a:prstGeom prst="rect">
            <a:avLst/>
          </a:prstGeom>
          <a:solidFill>
            <a:schemeClr val="accent1"/>
          </a:solidFill>
          <a:ln w="12700">
            <a:solidFill>
              <a:schemeClr val="accent1"/>
            </a:solidFill>
            <a:prstDash val="solid"/>
          </a:ln>
        </p:spPr>
      </p:sp>
      <p:sp>
        <p:nvSpPr>
          <p:cNvPr id="26" name="Learn 6 heading"/>
          <p:cNvSpPr txBox="1"/>
          <p:nvPr/>
        </p:nvSpPr>
        <p:spPr>
          <a:xfrm>
            <a:off x="6254496" y="2953512"/>
            <a:ext cx="2377440" cy="292608"/>
          </a:xfrm>
          <a:prstGeom prst="rect">
            <a:avLst/>
          </a:prstGeom>
          <a:noFill/>
          <a:ln/>
        </p:spPr>
        <p:txBody>
          <a:bodyPr wrap="square" lIns="0" tIns="0" rIns="0" bIns="0" rtlCol="0" anchor="ctr"/>
          <a:lstStyle/>
          <a:p>
            <a:pPr indent="0" marL="0">
              <a:buNone/>
            </a:pPr>
            <a:r>
              <a:rPr lang="en-US" sz="1300" b="1" dirty="0">
                <a:solidFill>
                  <a:schemeClr val="tx1"/>
                </a:solidFill>
              </a:rPr>
              <a:t>CardioCare AI assistant</a:t>
            </a:r>
            <a:endParaRPr lang="en-US" sz="1300" dirty="0"/>
          </a:p>
        </p:txBody>
      </p:sp>
      <p:sp>
        <p:nvSpPr>
          <p:cNvPr id="27" name="Learn 6 body"/>
          <p:cNvSpPr txBox="1"/>
          <p:nvPr/>
        </p:nvSpPr>
        <p:spPr>
          <a:xfrm>
            <a:off x="6254496" y="3264408"/>
            <a:ext cx="2377440" cy="105156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Floating chat: explains your result and risk factors</a:t>
            </a:r>
            <a:endParaRPr lang="en-US" sz="1050" dirty="0"/>
          </a:p>
          <a:p>
            <a:pPr marL="342900" indent="-342900">
              <a:spcAft>
                <a:spcPts val="300"/>
              </a:spcAft>
              <a:buSzPct val="100000"/>
              <a:buChar char="•"/>
            </a:pPr>
            <a:r>
              <a:rPr lang="en-US" sz="1050" dirty="0">
                <a:solidFill>
                  <a:schemeClr val="tx2"/>
                </a:solidFill>
              </a:rPr>
              <a:t>Never diagnoses; safety message for symptoms</a:t>
            </a:r>
            <a:endParaRPr lang="en-US" sz="1050" dirty="0"/>
          </a:p>
        </p:txBody>
      </p:sp>
      <p:sp>
        <p:nvSpPr>
          <p:cNvPr id="28" name="Text 25"/>
          <p:cNvSpPr txBox="1"/>
          <p:nvPr/>
        </p:nvSpPr>
        <p:spPr>
          <a:xfrm>
            <a:off x="457200" y="4526280"/>
            <a:ext cx="8229600" cy="228600"/>
          </a:xfrm>
          <a:prstGeom prst="rect">
            <a:avLst/>
          </a:prstGeom>
          <a:noFill/>
          <a:ln/>
        </p:spPr>
        <p:txBody>
          <a:bodyPr wrap="square" lIns="0" tIns="0" rIns="0" bIns="0" rtlCol="0" anchor="ctr"/>
          <a:lstStyle/>
          <a:p>
            <a:pPr indent="0" marL="0">
              <a:buNone/>
            </a:pPr>
            <a:r>
              <a:rPr lang="en-US" sz="1000" dirty="0">
                <a:solidFill>
                  <a:schemeClr val="tx2"/>
                </a:solidFill>
              </a:rPr>
              <a:t>Also: site-wide search · Back button and breadcrumbs · dark/light mode · mobile hamburger menu</a:t>
            </a:r>
            <a:endParaRPr lang="en-US" sz="10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Data science, done honestly</a:t>
            </a:r>
            <a:endParaRPr lang="en-US" sz="2400" dirty="0"/>
          </a:p>
        </p:txBody>
      </p:sp>
      <p:sp>
        <p:nvSpPr>
          <p:cNvPr id="4" name="Pipeline 1"/>
          <p:cNvSpPr/>
          <p:nvPr/>
        </p:nvSpPr>
        <p:spPr>
          <a:xfrm>
            <a:off x="457200" y="1188720"/>
            <a:ext cx="1920240" cy="502920"/>
          </a:xfrm>
          <a:prstGeom prst="roundRect">
            <a:avLst>
              <a:gd name="adj" fmla="val 10909"/>
            </a:avLst>
          </a:prstGeom>
          <a:solidFill>
            <a:schemeClr val="tx2"/>
          </a:solidFill>
          <a:ln w="9525">
            <a:solidFill>
              <a:schemeClr val="accent2"/>
            </a:solidFill>
            <a:prstDash val="solid"/>
          </a:ln>
        </p:spPr>
      </p:sp>
      <p:sp>
        <p:nvSpPr>
          <p:cNvPr id="5" name="Pipeline label 1"/>
          <p:cNvSpPr txBox="1"/>
          <p:nvPr/>
        </p:nvSpPr>
        <p:spPr>
          <a:xfrm>
            <a:off x="457200" y="118872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1. Data collection</a:t>
            </a:r>
            <a:endParaRPr lang="en-US" sz="1100" dirty="0"/>
          </a:p>
        </p:txBody>
      </p:sp>
      <p:sp>
        <p:nvSpPr>
          <p:cNvPr id="6" name="Pipeline 2"/>
          <p:cNvSpPr/>
          <p:nvPr/>
        </p:nvSpPr>
        <p:spPr>
          <a:xfrm>
            <a:off x="2542032" y="1188720"/>
            <a:ext cx="1920240" cy="502920"/>
          </a:xfrm>
          <a:prstGeom prst="roundRect">
            <a:avLst>
              <a:gd name="adj" fmla="val 10909"/>
            </a:avLst>
          </a:prstGeom>
          <a:solidFill>
            <a:schemeClr val="tx2"/>
          </a:solidFill>
          <a:ln w="9525">
            <a:solidFill>
              <a:schemeClr val="accent2"/>
            </a:solidFill>
            <a:prstDash val="solid"/>
          </a:ln>
        </p:spPr>
      </p:sp>
      <p:sp>
        <p:nvSpPr>
          <p:cNvPr id="7" name="Pipeline label 2"/>
          <p:cNvSpPr txBox="1"/>
          <p:nvPr/>
        </p:nvSpPr>
        <p:spPr>
          <a:xfrm>
            <a:off x="2542032" y="118872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2. Data cleaning</a:t>
            </a:r>
            <a:endParaRPr lang="en-US" sz="1100" dirty="0"/>
          </a:p>
        </p:txBody>
      </p:sp>
      <p:sp>
        <p:nvSpPr>
          <p:cNvPr id="8" name="Pipeline 3"/>
          <p:cNvSpPr/>
          <p:nvPr/>
        </p:nvSpPr>
        <p:spPr>
          <a:xfrm>
            <a:off x="4626864" y="1188720"/>
            <a:ext cx="1920240" cy="502920"/>
          </a:xfrm>
          <a:prstGeom prst="roundRect">
            <a:avLst>
              <a:gd name="adj" fmla="val 10909"/>
            </a:avLst>
          </a:prstGeom>
          <a:solidFill>
            <a:schemeClr val="tx2"/>
          </a:solidFill>
          <a:ln w="9525">
            <a:solidFill>
              <a:schemeClr val="accent2"/>
            </a:solidFill>
            <a:prstDash val="solid"/>
          </a:ln>
        </p:spPr>
      </p:sp>
      <p:sp>
        <p:nvSpPr>
          <p:cNvPr id="9" name="Pipeline label 3"/>
          <p:cNvSpPr txBox="1"/>
          <p:nvPr/>
        </p:nvSpPr>
        <p:spPr>
          <a:xfrm>
            <a:off x="4626864" y="118872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3. Exploratory analysis</a:t>
            </a:r>
            <a:endParaRPr lang="en-US" sz="1100" dirty="0"/>
          </a:p>
        </p:txBody>
      </p:sp>
      <p:sp>
        <p:nvSpPr>
          <p:cNvPr id="10" name="Pipeline 4"/>
          <p:cNvSpPr/>
          <p:nvPr/>
        </p:nvSpPr>
        <p:spPr>
          <a:xfrm>
            <a:off x="6711696" y="1188720"/>
            <a:ext cx="1920240" cy="502920"/>
          </a:xfrm>
          <a:prstGeom prst="roundRect">
            <a:avLst>
              <a:gd name="adj" fmla="val 10909"/>
            </a:avLst>
          </a:prstGeom>
          <a:solidFill>
            <a:schemeClr val="tx2"/>
          </a:solidFill>
          <a:ln w="9525">
            <a:solidFill>
              <a:schemeClr val="accent2"/>
            </a:solidFill>
            <a:prstDash val="solid"/>
          </a:ln>
        </p:spPr>
      </p:sp>
      <p:sp>
        <p:nvSpPr>
          <p:cNvPr id="11" name="Pipeline label 4"/>
          <p:cNvSpPr txBox="1"/>
          <p:nvPr/>
        </p:nvSpPr>
        <p:spPr>
          <a:xfrm>
            <a:off x="6711696" y="118872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4. Feature processing</a:t>
            </a:r>
            <a:endParaRPr lang="en-US" sz="1100" dirty="0"/>
          </a:p>
        </p:txBody>
      </p:sp>
      <p:sp>
        <p:nvSpPr>
          <p:cNvPr id="12" name="Pipeline 5"/>
          <p:cNvSpPr/>
          <p:nvPr/>
        </p:nvSpPr>
        <p:spPr>
          <a:xfrm>
            <a:off x="457200" y="1828800"/>
            <a:ext cx="1920240" cy="502920"/>
          </a:xfrm>
          <a:prstGeom prst="roundRect">
            <a:avLst>
              <a:gd name="adj" fmla="val 10909"/>
            </a:avLst>
          </a:prstGeom>
          <a:solidFill>
            <a:schemeClr val="accent1"/>
          </a:solidFill>
          <a:ln w="9525">
            <a:solidFill>
              <a:schemeClr val="accent2"/>
            </a:solidFill>
            <a:prstDash val="solid"/>
          </a:ln>
        </p:spPr>
      </p:sp>
      <p:sp>
        <p:nvSpPr>
          <p:cNvPr id="13" name="Pipeline label 5"/>
          <p:cNvSpPr txBox="1"/>
          <p:nvPr/>
        </p:nvSpPr>
        <p:spPr>
          <a:xfrm>
            <a:off x="457200" y="182880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5. Model training</a:t>
            </a:r>
            <a:endParaRPr lang="en-US" sz="1100" dirty="0"/>
          </a:p>
        </p:txBody>
      </p:sp>
      <p:sp>
        <p:nvSpPr>
          <p:cNvPr id="14" name="Pipeline 6"/>
          <p:cNvSpPr/>
          <p:nvPr/>
        </p:nvSpPr>
        <p:spPr>
          <a:xfrm>
            <a:off x="2542032" y="1828800"/>
            <a:ext cx="1920240" cy="502920"/>
          </a:xfrm>
          <a:prstGeom prst="roundRect">
            <a:avLst>
              <a:gd name="adj" fmla="val 10909"/>
            </a:avLst>
          </a:prstGeom>
          <a:solidFill>
            <a:schemeClr val="accent1"/>
          </a:solidFill>
          <a:ln w="9525">
            <a:solidFill>
              <a:schemeClr val="accent2"/>
            </a:solidFill>
            <a:prstDash val="solid"/>
          </a:ln>
        </p:spPr>
      </p:sp>
      <p:sp>
        <p:nvSpPr>
          <p:cNvPr id="15" name="Pipeline label 6"/>
          <p:cNvSpPr txBox="1"/>
          <p:nvPr/>
        </p:nvSpPr>
        <p:spPr>
          <a:xfrm>
            <a:off x="2542032" y="182880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6. Model evaluation</a:t>
            </a:r>
            <a:endParaRPr lang="en-US" sz="1100" dirty="0"/>
          </a:p>
        </p:txBody>
      </p:sp>
      <p:sp>
        <p:nvSpPr>
          <p:cNvPr id="16" name="Pipeline 7"/>
          <p:cNvSpPr/>
          <p:nvPr/>
        </p:nvSpPr>
        <p:spPr>
          <a:xfrm>
            <a:off x="4626864" y="1828800"/>
            <a:ext cx="1920240" cy="502920"/>
          </a:xfrm>
          <a:prstGeom prst="roundRect">
            <a:avLst>
              <a:gd name="adj" fmla="val 10909"/>
            </a:avLst>
          </a:prstGeom>
          <a:solidFill>
            <a:schemeClr val="accent1"/>
          </a:solidFill>
          <a:ln w="9525">
            <a:solidFill>
              <a:schemeClr val="accent2"/>
            </a:solidFill>
            <a:prstDash val="solid"/>
          </a:ln>
        </p:spPr>
      </p:sp>
      <p:sp>
        <p:nvSpPr>
          <p:cNvPr id="17" name="Pipeline label 7"/>
          <p:cNvSpPr txBox="1"/>
          <p:nvPr/>
        </p:nvSpPr>
        <p:spPr>
          <a:xfrm>
            <a:off x="4626864" y="182880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7. Risk prediction</a:t>
            </a:r>
            <a:endParaRPr lang="en-US" sz="1100" dirty="0"/>
          </a:p>
        </p:txBody>
      </p:sp>
      <p:sp>
        <p:nvSpPr>
          <p:cNvPr id="18" name="Pipeline 8"/>
          <p:cNvSpPr/>
          <p:nvPr/>
        </p:nvSpPr>
        <p:spPr>
          <a:xfrm>
            <a:off x="6711696" y="1828800"/>
            <a:ext cx="1920240" cy="502920"/>
          </a:xfrm>
          <a:prstGeom prst="roundRect">
            <a:avLst>
              <a:gd name="adj" fmla="val 10909"/>
            </a:avLst>
          </a:prstGeom>
          <a:solidFill>
            <a:schemeClr val="accent1"/>
          </a:solidFill>
          <a:ln w="9525">
            <a:solidFill>
              <a:schemeClr val="accent2"/>
            </a:solidFill>
            <a:prstDash val="solid"/>
          </a:ln>
        </p:spPr>
      </p:sp>
      <p:sp>
        <p:nvSpPr>
          <p:cNvPr id="19" name="Pipeline label 8"/>
          <p:cNvSpPr txBox="1"/>
          <p:nvPr/>
        </p:nvSpPr>
        <p:spPr>
          <a:xfrm>
            <a:off x="6711696" y="1828800"/>
            <a:ext cx="1920240" cy="502920"/>
          </a:xfrm>
          <a:prstGeom prst="rect">
            <a:avLst/>
          </a:prstGeom>
          <a:noFill/>
          <a:ln/>
        </p:spPr>
        <p:txBody>
          <a:bodyPr wrap="square" lIns="0" tIns="0" rIns="0" bIns="0" rtlCol="0" anchor="ctr"/>
          <a:lstStyle/>
          <a:p>
            <a:pPr algn="ctr" indent="0" marL="0">
              <a:buNone/>
            </a:pPr>
            <a:r>
              <a:rPr lang="en-US" sz="1100" b="1" dirty="0">
                <a:solidFill>
                  <a:schemeClr val="bg1"/>
                </a:solidFill>
              </a:rPr>
              <a:t>8. Explainable insight</a:t>
            </a:r>
            <a:endParaRPr lang="en-US" sz="1100" dirty="0"/>
          </a:p>
        </p:txBody>
      </p:sp>
      <p:sp>
        <p:nvSpPr>
          <p:cNvPr id="20" name="Today card"/>
          <p:cNvSpPr/>
          <p:nvPr/>
        </p:nvSpPr>
        <p:spPr>
          <a:xfrm>
            <a:off x="457200" y="2651760"/>
            <a:ext cx="4023360" cy="1920240"/>
          </a:xfrm>
          <a:prstGeom prst="rect">
            <a:avLst/>
          </a:prstGeom>
          <a:solidFill>
            <a:schemeClr val="bg1"/>
          </a:solidFill>
          <a:ln w="9525">
            <a:solidFill>
              <a:schemeClr val="accent3"/>
            </a:solidFill>
            <a:prstDash val="solid"/>
          </a:ln>
        </p:spPr>
      </p:sp>
      <p:sp>
        <p:nvSpPr>
          <p:cNvPr id="21" name="Today accent"/>
          <p:cNvSpPr/>
          <p:nvPr/>
        </p:nvSpPr>
        <p:spPr>
          <a:xfrm>
            <a:off x="457200" y="2651760"/>
            <a:ext cx="64008" cy="1920240"/>
          </a:xfrm>
          <a:prstGeom prst="rect">
            <a:avLst/>
          </a:prstGeom>
          <a:solidFill>
            <a:schemeClr val="accent2"/>
          </a:solidFill>
          <a:ln w="12700">
            <a:solidFill>
              <a:schemeClr val="accent2"/>
            </a:solidFill>
            <a:prstDash val="solid"/>
          </a:ln>
        </p:spPr>
      </p:sp>
      <p:sp>
        <p:nvSpPr>
          <p:cNvPr id="22" name="Today heading"/>
          <p:cNvSpPr txBox="1"/>
          <p:nvPr/>
        </p:nvSpPr>
        <p:spPr>
          <a:xfrm>
            <a:off x="640080" y="272491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Today: demonstration mode</a:t>
            </a:r>
            <a:endParaRPr lang="en-US" sz="1300" dirty="0"/>
          </a:p>
        </p:txBody>
      </p:sp>
      <p:sp>
        <p:nvSpPr>
          <p:cNvPr id="23" name="Today body"/>
          <p:cNvSpPr txBox="1"/>
          <p:nvPr/>
        </p:nvSpPr>
        <p:spPr>
          <a:xfrm>
            <a:off x="640080" y="3035808"/>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Transparent demo formula, labelled DEMONSTRATION DATA</a:t>
            </a:r>
            <a:endParaRPr lang="en-US" sz="1050" dirty="0"/>
          </a:p>
          <a:p>
            <a:pPr marL="342900" indent="-342900">
              <a:spcAft>
                <a:spcPts val="300"/>
              </a:spcAft>
              <a:buSzPct val="100000"/>
              <a:buChar char="•"/>
            </a:pPr>
            <a:r>
              <a:rPr lang="en-US" sz="1050" dirty="0">
                <a:solidFill>
                  <a:schemeClr val="tx2"/>
                </a:solidFill>
              </a:rPr>
              <a:t>No invented accuracy, precision, recall or F1</a:t>
            </a:r>
            <a:endParaRPr lang="en-US" sz="1050" dirty="0"/>
          </a:p>
          <a:p>
            <a:pPr marL="342900" indent="-342900">
              <a:spcAft>
                <a:spcPts val="300"/>
              </a:spcAft>
              <a:buSzPct val="100000"/>
              <a:buChar char="•"/>
            </a:pPr>
            <a:r>
              <a:rPr lang="en-US" sz="1050" dirty="0">
                <a:solidFill>
                  <a:schemeClr val="tx2"/>
                </a:solidFill>
              </a:rPr>
              <a:t>Evaluation box: “Model evaluation will appear after training.”</a:t>
            </a:r>
            <a:endParaRPr lang="en-US" sz="1050" dirty="0"/>
          </a:p>
          <a:p>
            <a:pPr marL="342900" indent="-342900">
              <a:spcAft>
                <a:spcPts val="300"/>
              </a:spcAft>
              <a:buSzPct val="100000"/>
              <a:buChar char="•"/>
            </a:pPr>
            <a:r>
              <a:rPr lang="en-US" sz="1050" dirty="0">
                <a:solidFill>
                  <a:schemeClr val="tx2"/>
                </a:solidFill>
              </a:rPr>
              <a:t>Scores are never presented as medical probabilities</a:t>
            </a:r>
            <a:endParaRPr lang="en-US" sz="1050" dirty="0"/>
          </a:p>
        </p:txBody>
      </p:sp>
      <p:sp>
        <p:nvSpPr>
          <p:cNvPr id="24" name="Ready card"/>
          <p:cNvSpPr/>
          <p:nvPr/>
        </p:nvSpPr>
        <p:spPr>
          <a:xfrm>
            <a:off x="4663440" y="2651760"/>
            <a:ext cx="4023360" cy="1920240"/>
          </a:xfrm>
          <a:prstGeom prst="rect">
            <a:avLst/>
          </a:prstGeom>
          <a:solidFill>
            <a:schemeClr val="bg1"/>
          </a:solidFill>
          <a:ln w="9525">
            <a:solidFill>
              <a:schemeClr val="accent3"/>
            </a:solidFill>
            <a:prstDash val="solid"/>
          </a:ln>
        </p:spPr>
      </p:sp>
      <p:sp>
        <p:nvSpPr>
          <p:cNvPr id="25" name="Ready accent"/>
          <p:cNvSpPr/>
          <p:nvPr/>
        </p:nvSpPr>
        <p:spPr>
          <a:xfrm>
            <a:off x="4663440" y="2651760"/>
            <a:ext cx="64008" cy="1920240"/>
          </a:xfrm>
          <a:prstGeom prst="rect">
            <a:avLst/>
          </a:prstGeom>
          <a:solidFill>
            <a:schemeClr val="accent1"/>
          </a:solidFill>
          <a:ln w="12700">
            <a:solidFill>
              <a:schemeClr val="accent1"/>
            </a:solidFill>
            <a:prstDash val="solid"/>
          </a:ln>
        </p:spPr>
      </p:sp>
      <p:sp>
        <p:nvSpPr>
          <p:cNvPr id="26" name="Ready heading"/>
          <p:cNvSpPr txBox="1"/>
          <p:nvPr/>
        </p:nvSpPr>
        <p:spPr>
          <a:xfrm>
            <a:off x="4846320" y="2724912"/>
            <a:ext cx="3749040" cy="292608"/>
          </a:xfrm>
          <a:prstGeom prst="rect">
            <a:avLst/>
          </a:prstGeom>
          <a:noFill/>
          <a:ln/>
        </p:spPr>
        <p:txBody>
          <a:bodyPr wrap="square" lIns="0" tIns="0" rIns="0" bIns="0" rtlCol="0" anchor="ctr"/>
          <a:lstStyle/>
          <a:p>
            <a:pPr indent="0" marL="0">
              <a:buNone/>
            </a:pPr>
            <a:r>
              <a:rPr lang="en-US" sz="1300" b="1" dirty="0">
                <a:solidFill>
                  <a:schemeClr val="tx1"/>
                </a:solidFill>
              </a:rPr>
              <a:t>Ready for the real model</a:t>
            </a:r>
            <a:endParaRPr lang="en-US" sz="1300" dirty="0"/>
          </a:p>
        </p:txBody>
      </p:sp>
      <p:sp>
        <p:nvSpPr>
          <p:cNvPr id="27" name="Ready body"/>
          <p:cNvSpPr txBox="1"/>
          <p:nvPr/>
        </p:nvSpPr>
        <p:spPr>
          <a:xfrm>
            <a:off x="4846320" y="3035808"/>
            <a:ext cx="3749040" cy="14630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2"/>
                </a:solidFill>
              </a:rPr>
              <a:t>Frontend: HTML / CSS / JavaScript</a:t>
            </a:r>
            <a:endParaRPr lang="en-US" sz="1050" dirty="0"/>
          </a:p>
          <a:p>
            <a:pPr marL="342900" indent="-342900">
              <a:spcAft>
                <a:spcPts val="300"/>
              </a:spcAft>
              <a:buSzPct val="100000"/>
              <a:buChar char="•"/>
            </a:pPr>
            <a:r>
              <a:rPr lang="en-US" sz="1050" dirty="0">
                <a:solidFill>
                  <a:schemeClr val="tx2"/>
                </a:solidFill>
              </a:rPr>
              <a:t>One model service to swap for a Flask API</a:t>
            </a:r>
            <a:endParaRPr lang="en-US" sz="1050" dirty="0"/>
          </a:p>
          <a:p>
            <a:pPr marL="342900" indent="-342900">
              <a:spcAft>
                <a:spcPts val="300"/>
              </a:spcAft>
              <a:buSzPct val="100000"/>
              <a:buChar char="•"/>
            </a:pPr>
            <a:r>
              <a:rPr lang="en-US" sz="1050" dirty="0">
                <a:solidFill>
                  <a:schemeClr val="tx2"/>
                </a:solidFill>
              </a:rPr>
              <a:t>Backend: Python + scikit-learn (stub included)</a:t>
            </a:r>
            <a:endParaRPr lang="en-US" sz="1050" dirty="0"/>
          </a:p>
          <a:p>
            <a:pPr marL="342900" indent="-342900">
              <a:spcAft>
                <a:spcPts val="300"/>
              </a:spcAft>
              <a:buSzPct val="100000"/>
              <a:buChar char="•"/>
            </a:pPr>
            <a:r>
              <a:rPr lang="en-US" sz="1050" dirty="0">
                <a:solidFill>
                  <a:schemeClr val="tx2"/>
                </a:solidFill>
              </a:rPr>
              <a:t>Real evaluation values slot into the Data Science page</a:t>
            </a:r>
            <a:endParaRPr lang="en-US" sz="105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400" b="1" dirty="0">
                <a:solidFill>
                  <a:schemeClr val="bg1"/>
                </a:solidFill>
              </a:rPr>
              <a:t>Ready for review, and for a real model</a:t>
            </a:r>
            <a:endParaRPr lang="en-US" sz="2400" dirty="0"/>
          </a:p>
        </p:txBody>
      </p:sp>
      <p:sp>
        <p:nvSpPr>
          <p:cNvPr id="4" name="Text 1"/>
          <p:cNvSpPr txBox="1"/>
          <p:nvPr/>
        </p:nvSpPr>
        <p:spPr>
          <a:xfrm>
            <a:off x="457200" y="1188720"/>
            <a:ext cx="3931920" cy="320040"/>
          </a:xfrm>
          <a:prstGeom prst="rect">
            <a:avLst/>
          </a:prstGeom>
          <a:noFill/>
          <a:ln/>
        </p:spPr>
        <p:txBody>
          <a:bodyPr wrap="square" lIns="0" tIns="0" rIns="0" bIns="0" rtlCol="0" anchor="ctr"/>
          <a:lstStyle/>
          <a:p>
            <a:pPr indent="0" marL="0">
              <a:buNone/>
            </a:pPr>
            <a:r>
              <a:rPr lang="en-US" sz="1500" b="1" dirty="0">
                <a:solidFill>
                  <a:schemeClr val="accent2"/>
                </a:solidFill>
              </a:rPr>
              <a:t>What's built</a:t>
            </a:r>
            <a:endParaRPr lang="en-US" sz="1500" dirty="0"/>
          </a:p>
        </p:txBody>
      </p:sp>
      <p:sp>
        <p:nvSpPr>
          <p:cNvPr id="5" name="Text 2"/>
          <p:cNvSpPr txBox="1"/>
          <p:nvPr/>
        </p:nvSpPr>
        <p:spPr>
          <a:xfrm>
            <a:off x="457200" y="1554480"/>
            <a:ext cx="393192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Responsive on mobile, tablet and desktop; dark and light mode</a:t>
            </a:r>
            <a:endParaRPr lang="en-US" sz="1200" dirty="0"/>
          </a:p>
          <a:p>
            <a:pPr marL="342900" indent="-342900">
              <a:spcAft>
                <a:spcPts val="600"/>
              </a:spcAft>
              <a:buSzPct val="100000"/>
              <a:buChar char="•"/>
            </a:pPr>
            <a:r>
              <a:rPr lang="en-US" sz="1200" dirty="0">
                <a:solidFill>
                  <a:schemeClr val="bg1"/>
                </a:solidFill>
              </a:rPr>
              <a:t>Accessible: labels, keyboard use, icon + text for risk level</a:t>
            </a:r>
            <a:endParaRPr lang="en-US" sz="1200" dirty="0"/>
          </a:p>
          <a:p>
            <a:pPr marL="342900" indent="-342900">
              <a:spcAft>
                <a:spcPts val="600"/>
              </a:spcAft>
              <a:buSzPct val="100000"/>
              <a:buChar char="•"/>
            </a:pPr>
            <a:r>
              <a:rPr lang="en-US" sz="1200" dirty="0">
                <a:solidFill>
                  <a:schemeClr val="bg1"/>
                </a:solidFill>
              </a:rPr>
              <a:t>Privacy: no health data stored by default</a:t>
            </a:r>
            <a:endParaRPr lang="en-US" sz="1200" dirty="0"/>
          </a:p>
          <a:p>
            <a:pPr marL="342900" indent="-342900">
              <a:spcAft>
                <a:spcPts val="600"/>
              </a:spcAft>
              <a:buSzPct val="100000"/>
              <a:buChar char="•"/>
            </a:pPr>
            <a:r>
              <a:rPr lang="en-US" sz="1200" dirty="0">
                <a:solidFill>
                  <a:schemeClr val="bg1"/>
                </a:solidFill>
              </a:rPr>
              <a:t>Disclaimers throughout; all demo values labelled</a:t>
            </a:r>
            <a:endParaRPr lang="en-US" sz="1200" dirty="0"/>
          </a:p>
        </p:txBody>
      </p:sp>
      <p:sp>
        <p:nvSpPr>
          <p:cNvPr id="6" name="Text 3"/>
          <p:cNvSpPr txBox="1"/>
          <p:nvPr/>
        </p:nvSpPr>
        <p:spPr>
          <a:xfrm>
            <a:off x="4754880" y="1188720"/>
            <a:ext cx="3931920" cy="320040"/>
          </a:xfrm>
          <a:prstGeom prst="rect">
            <a:avLst/>
          </a:prstGeom>
          <a:noFill/>
          <a:ln/>
        </p:spPr>
        <p:txBody>
          <a:bodyPr wrap="square" lIns="0" tIns="0" rIns="0" bIns="0" rtlCol="0" anchor="ctr"/>
          <a:lstStyle/>
          <a:p>
            <a:pPr indent="0" marL="0">
              <a:buNone/>
            </a:pPr>
            <a:r>
              <a:rPr lang="en-US" sz="1500" b="1" dirty="0">
                <a:solidFill>
                  <a:schemeClr val="accent2"/>
                </a:solidFill>
              </a:rPr>
              <a:t>Next steps</a:t>
            </a:r>
            <a:endParaRPr lang="en-US" sz="1500" dirty="0"/>
          </a:p>
        </p:txBody>
      </p:sp>
      <p:sp>
        <p:nvSpPr>
          <p:cNvPr id="7" name="Text 4"/>
          <p:cNvSpPr txBox="1"/>
          <p:nvPr/>
        </p:nvSpPr>
        <p:spPr>
          <a:xfrm>
            <a:off x="4754880" y="1554480"/>
            <a:ext cx="393192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1"/>
                </a:solidFill>
              </a:rPr>
              <a:t>Train a scikit-learn model on a real dataset</a:t>
            </a:r>
            <a:endParaRPr lang="en-US" sz="1200" dirty="0"/>
          </a:p>
          <a:p>
            <a:pPr marL="342900" indent="-342900">
              <a:spcAft>
                <a:spcPts val="600"/>
              </a:spcAft>
              <a:buSzPct val="100000"/>
              <a:buChar char="•"/>
            </a:pPr>
            <a:r>
              <a:rPr lang="en-US" sz="1200" dirty="0">
                <a:solidFill>
                  <a:schemeClr val="bg1"/>
                </a:solidFill>
              </a:rPr>
              <a:t>Connect it through a Flask API</a:t>
            </a:r>
            <a:endParaRPr lang="en-US" sz="1200" dirty="0"/>
          </a:p>
          <a:p>
            <a:pPr marL="342900" indent="-342900">
              <a:spcAft>
                <a:spcPts val="600"/>
              </a:spcAft>
              <a:buSzPct val="100000"/>
              <a:buChar char="•"/>
            </a:pPr>
            <a:r>
              <a:rPr lang="en-US" sz="1200" dirty="0">
                <a:solidFill>
                  <a:schemeClr val="bg1"/>
                </a:solidFill>
              </a:rPr>
              <a:t>Add real evaluation and feature importance</a:t>
            </a:r>
            <a:endParaRPr lang="en-US" sz="1200" dirty="0"/>
          </a:p>
          <a:p>
            <a:pPr marL="342900" indent="-342900">
              <a:spcAft>
                <a:spcPts val="600"/>
              </a:spcAft>
              <a:buSzPct val="100000"/>
              <a:buChar char="•"/>
            </a:pPr>
            <a:r>
              <a:rPr lang="en-US" sz="1200" dirty="0">
                <a:solidFill>
                  <a:schemeClr val="bg1"/>
                </a:solidFill>
              </a:rPr>
              <a:t>User testing and expert review before wider use</a:t>
            </a:r>
            <a:endParaRPr lang="en-US" sz="1200" dirty="0"/>
          </a:p>
        </p:txBody>
      </p:sp>
      <p:sp>
        <p:nvSpPr>
          <p:cNvPr id="8" name="Text 5"/>
          <p:cNvSpPr txBox="1"/>
          <p:nvPr/>
        </p:nvSpPr>
        <p:spPr>
          <a:xfrm>
            <a:off x="457200" y="4023360"/>
            <a:ext cx="8229600" cy="320040"/>
          </a:xfrm>
          <a:prstGeom prst="rect">
            <a:avLst/>
          </a:prstGeom>
          <a:noFill/>
          <a:ln/>
        </p:spPr>
        <p:txBody>
          <a:bodyPr wrap="square" lIns="0" tIns="0" rIns="0" bIns="0" rtlCol="0" anchor="ctr"/>
          <a:lstStyle/>
          <a:p>
            <a:pPr indent="0" marL="0">
              <a:buNone/>
            </a:pPr>
            <a:r>
              <a:rPr lang="en-US" sz="1200" dirty="0">
                <a:solidFill>
                  <a:schemeClr val="accent2"/>
                </a:solidFill>
              </a:rPr>
              <a:t>Live demo: claude.ai/artifact/VGwQaNugKd7hJkHWBFJBm2</a:t>
            </a:r>
            <a:endParaRPr lang="en-US" sz="12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ardioInsight">
  <a:themeElements>
    <a:clrScheme name="CardioInsight">
      <a:dk1>
        <a:srgbClr val="0B1730"/>
      </a:dk1>
      <a:lt1>
        <a:srgbClr val="FFFFFF"/>
      </a:lt1>
      <a:dk2>
        <a:srgbClr val="13244A"/>
      </a:dk2>
      <a:lt2>
        <a:srgbClr val="F4F6FA"/>
      </a:lt2>
      <a:accent1>
        <a:srgbClr val="8C1226"/>
      </a:accent1>
      <a:accent2>
        <a:srgbClr val="C9A24B"/>
      </a:accent2>
      <a:accent3>
        <a:srgbClr val="AAB4C3"/>
      </a:accent3>
      <a:accent4>
        <a:srgbClr val="2B4C8C"/>
      </a:accent4>
      <a:accent5>
        <a:srgbClr val="3E8E6B"/>
      </a:accent5>
      <a:accent6>
        <a:srgbClr val="E0505F"/>
      </a:accent6>
      <a:hlink>
        <a:srgbClr val="C9A24B"/>
      </a:hlink>
      <a:folHlink>
        <a:srgbClr val="AAB4C3"/>
      </a:folHlink>
    </a:clrScheme>
    <a:fontScheme name="CardioInsigh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CardioInsight – Stakeholder Overview</dc:title>
  <dc:subject>PptxGenJS Presentation</dc:subject>
  <dc:creator>PptxGenJS</dc:creator>
  <cp:lastModifiedBy>PptxGenJS</cp:lastModifiedBy>
  <cp:revision>1</cp:revision>
  <dcterms:created xsi:type="dcterms:W3CDTF">2026-10-09T05:41:04Z</dcterms:created>
  <dcterms:modified xsi:type="dcterms:W3CDTF">2026-10-09T05:41:04Z</dcterms:modified>
</cp:coreProperties>
</file>